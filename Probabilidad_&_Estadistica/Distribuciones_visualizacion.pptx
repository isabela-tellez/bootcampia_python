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Arial Black"/>
      <p:regular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db33687e7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db33687e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db33687e7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ce793c2a0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cce793c2a0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ce793c2a0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ce793c2a0_0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cce793c2a0_0_2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ce793c2a0_0_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cce793c2a0_0_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cce793c2a0_0_3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ce793c2a0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cce793c2a0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cce793c2a0_0_3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ce793c2a0_0_3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ce793c2a0_0_3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cce793c2a0_0_3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870818b554_1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870818b554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2870818b554_1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 título" showMasterSp="0">
  <p:cSld name="1_Diapo título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8" y="679"/>
            <a:ext cx="12188825" cy="685664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type="title"/>
          </p:nvPr>
        </p:nvSpPr>
        <p:spPr>
          <a:xfrm>
            <a:off x="934612" y="2746365"/>
            <a:ext cx="7091788" cy="12068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o dos bloques">
  <p:cSld name="4_Texto dos bloque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190624" y="1387475"/>
            <a:ext cx="10442575" cy="1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2" type="body"/>
          </p:nvPr>
        </p:nvSpPr>
        <p:spPr>
          <a:xfrm>
            <a:off x="1190624" y="3848100"/>
            <a:ext cx="1044257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exto e imagen">
  <p:cSld name="6_Texto e imagen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Forma&#10;&#10;Descripción generada automáticamente"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853207" y="420687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657225" y="2543174"/>
            <a:ext cx="5204206" cy="3660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" name="Google Shape;28;p4"/>
          <p:cNvSpPr/>
          <p:nvPr>
            <p:ph idx="2" type="pic"/>
          </p:nvPr>
        </p:nvSpPr>
        <p:spPr>
          <a:xfrm>
            <a:off x="6762750" y="1895475"/>
            <a:ext cx="4527550" cy="3171825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 título v2" showMasterSp="0">
  <p:cSld name="1_Diapo título v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8" y="679"/>
            <a:ext cx="12188825" cy="685664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title"/>
          </p:nvPr>
        </p:nvSpPr>
        <p:spPr>
          <a:xfrm>
            <a:off x="935999" y="2746800"/>
            <a:ext cx="7091788" cy="876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Diapositiva intermedia de título" showMasterSp="0">
  <p:cSld name="2_Diapositiva intermedia de títul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89" y="679"/>
            <a:ext cx="12188823" cy="685664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>
            <p:ph type="title"/>
          </p:nvPr>
        </p:nvSpPr>
        <p:spPr>
          <a:xfrm>
            <a:off x="669299" y="2756325"/>
            <a:ext cx="6102976" cy="876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 cap="none">
                <a:solidFill>
                  <a:srgbClr val="4211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exto">
  <p:cSld name="3_Texto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" id="37" name="Google Shape;3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type="title"/>
          </p:nvPr>
        </p:nvSpPr>
        <p:spPr>
          <a:xfrm>
            <a:off x="853200" y="421199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>
                <a:solidFill>
                  <a:srgbClr val="4211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1209600" y="1497600"/>
            <a:ext cx="10548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440"/>
              <a:buNone/>
              <a:defRPr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280"/>
              <a:buChar char="▪"/>
              <a:defRPr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120"/>
              <a:buChar char="▪"/>
              <a:defRPr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1179513" y="6086475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Dos imágenes">
  <p:cSld name="7_Dos imágene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Gráfico&#10;&#10;Descripción generada automáticamente" id="43" name="Google Shape;4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8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/>
          <p:nvPr>
            <p:ph idx="2" type="pic"/>
          </p:nvPr>
        </p:nvSpPr>
        <p:spPr>
          <a:xfrm>
            <a:off x="6340473" y="2362200"/>
            <a:ext cx="5073651" cy="3111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8"/>
          <p:cNvSpPr/>
          <p:nvPr>
            <p:ph idx="3" type="pic"/>
          </p:nvPr>
        </p:nvSpPr>
        <p:spPr>
          <a:xfrm>
            <a:off x="971550" y="2362200"/>
            <a:ext cx="5073650" cy="31242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exto y collage 4 imágenes">
  <p:cSld name="8_Texto y collage 4 imágene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>
            <p:ph idx="2" type="pic"/>
          </p:nvPr>
        </p:nvSpPr>
        <p:spPr>
          <a:xfrm>
            <a:off x="8705850" y="1514475"/>
            <a:ext cx="2755900" cy="1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9"/>
          <p:cNvSpPr/>
          <p:nvPr>
            <p:ph idx="3" type="pic"/>
          </p:nvPr>
        </p:nvSpPr>
        <p:spPr>
          <a:xfrm>
            <a:off x="5842000" y="1514475"/>
            <a:ext cx="2755900" cy="1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9"/>
          <p:cNvSpPr/>
          <p:nvPr>
            <p:ph idx="4" type="pic"/>
          </p:nvPr>
        </p:nvSpPr>
        <p:spPr>
          <a:xfrm>
            <a:off x="8721725" y="3730625"/>
            <a:ext cx="2755900" cy="1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9"/>
          <p:cNvSpPr/>
          <p:nvPr>
            <p:ph idx="5" type="pic"/>
          </p:nvPr>
        </p:nvSpPr>
        <p:spPr>
          <a:xfrm>
            <a:off x="5842000" y="3730625"/>
            <a:ext cx="2755900" cy="1968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1219200" y="1504950"/>
            <a:ext cx="4303712" cy="418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Texto titulado doble columna">
  <p:cSld name="9_Texto titulado doble columna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Gráfico&#10;&#10;Descripción generada automáticamente" id="59" name="Google Shape;5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0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25489" y="3149600"/>
            <a:ext cx="5173662" cy="216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6172200" y="3143250"/>
            <a:ext cx="5173200" cy="2152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3" type="body"/>
          </p:nvPr>
        </p:nvSpPr>
        <p:spPr>
          <a:xfrm>
            <a:off x="741364" y="2359025"/>
            <a:ext cx="5173662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Font typeface="Open Sans"/>
              <a:buNone/>
              <a:defRPr b="1" sz="1800" cap="none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Open Sans"/>
              <a:buNone/>
              <a:defRPr cap="none">
                <a:solidFill>
                  <a:srgbClr val="2F7275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Open Sans"/>
              <a:buNone/>
              <a:defRPr cap="none">
                <a:solidFill>
                  <a:srgbClr val="2F7275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Open Sans"/>
              <a:buNone/>
              <a:defRPr cap="none">
                <a:solidFill>
                  <a:srgbClr val="2F7275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Open Sans"/>
              <a:buNone/>
              <a:defRPr cap="none">
                <a:solidFill>
                  <a:srgbClr val="2F7275"/>
                </a:solidFill>
              </a:defRPr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4" type="body"/>
          </p:nvPr>
        </p:nvSpPr>
        <p:spPr>
          <a:xfrm>
            <a:off x="6172200" y="2362200"/>
            <a:ext cx="5173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 cap="none">
                <a:solidFill>
                  <a:srgbClr val="7F7F7F"/>
                </a:solidFill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Libre en blanco">
  <p:cSld name="10_Libre en blanco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Tabla">
  <p:cSld name="11_Tabla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Vídeo">
  <p:cSld name="12_Vídeo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/>
          <p:nvPr>
            <p:ph idx="2" type="media"/>
          </p:nvPr>
        </p:nvSpPr>
        <p:spPr>
          <a:xfrm>
            <a:off x="1209600" y="1497600"/>
            <a:ext cx="10548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hart">
  <p:cSld name="13_Char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/>
          <p:nvPr>
            <p:ph idx="2" type="chart"/>
          </p:nvPr>
        </p:nvSpPr>
        <p:spPr>
          <a:xfrm>
            <a:off x="1209600" y="1497600"/>
            <a:ext cx="10548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1209600" y="5058100"/>
            <a:ext cx="105480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Font typeface="Open Sans"/>
              <a:buNone/>
              <a:defRPr>
                <a:solidFill>
                  <a:schemeClr val="dk1"/>
                </a:solidFill>
              </a:defRPr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2pPr>
            <a:lvl3pPr indent="-320040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3pPr>
            <a:lvl4pPr indent="-320040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4pPr>
            <a:lvl5pPr indent="-320040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1180800" y="6087600"/>
            <a:ext cx="25638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exto cierre conclusiones 1">
  <p:cSld name="14_Texto cierre conclusiones 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>
            <p:ph type="title"/>
          </p:nvPr>
        </p:nvSpPr>
        <p:spPr>
          <a:xfrm>
            <a:off x="853200" y="421199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>
                <a:solidFill>
                  <a:srgbClr val="4211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1209600" y="1497600"/>
            <a:ext cx="10548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440"/>
              <a:buNone/>
              <a:defRPr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280"/>
              <a:buChar char="▪"/>
              <a:defRPr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120"/>
              <a:buChar char="▪"/>
              <a:defRPr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ierre conclusiones v2">
  <p:cSld name="15_Cierre conclusiones v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1" y="9525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type="title"/>
          </p:nvPr>
        </p:nvSpPr>
        <p:spPr>
          <a:xfrm>
            <a:off x="853200" y="421199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800" cap="none">
                <a:solidFill>
                  <a:srgbClr val="4211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1209600" y="1497600"/>
            <a:ext cx="105480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440"/>
              <a:buNone/>
              <a:defRPr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280"/>
              <a:buChar char="▪"/>
              <a:defRPr/>
            </a:lvl2pPr>
            <a:lvl3pPr indent="-299720" lvl="2" marL="13716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1120"/>
              <a:buChar char="▪"/>
              <a:defRPr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Clr>
                <a:srgbClr val="11287A"/>
              </a:buClr>
              <a:buSzPts val="960"/>
              <a:buChar char="▪"/>
              <a:defRPr/>
            </a:lvl5pPr>
            <a:lvl6pPr indent="-320040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ierre contraportada" showMasterSp="0">
  <p:cSld name="16_Cierre contraportada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75" y="2019"/>
            <a:ext cx="12184063" cy="6853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81" y="0"/>
            <a:ext cx="121912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type="title"/>
          </p:nvPr>
        </p:nvSpPr>
        <p:spPr>
          <a:xfrm>
            <a:off x="853207" y="411162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rgbClr val="4211BA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1209964" y="1497450"/>
            <a:ext cx="10547927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440"/>
              <a:buFont typeface="Noto Sans Symbols"/>
              <a:buNone/>
              <a:defRPr b="0" i="0" sz="18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9972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1120"/>
              <a:buFont typeface="Noto Sans Symbols"/>
              <a:buChar char="▪"/>
              <a:defRPr b="0" i="0" sz="14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5C37B4"/>
              </a:buClr>
              <a:buSzPts val="960"/>
              <a:buFont typeface="Noto Sans Symbols"/>
              <a:buChar char="▪"/>
              <a:defRPr b="0" i="0" sz="1200" u="none" cap="none" strike="noStrik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956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956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752013" y="6203950"/>
            <a:ext cx="990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895176" y="4531175"/>
            <a:ext cx="63018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Distribuciones y Visualización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/>
              <a:t>Normal </a:t>
            </a:r>
            <a:r>
              <a:rPr b="0" i="1" lang="en-US" sz="1600">
                <a:solidFill>
                  <a:srgbClr val="B8F2F5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1" lang="en-US" sz="1600"/>
              <a:t>Binomial </a:t>
            </a:r>
            <a:r>
              <a:rPr b="0" i="1" lang="en-US" sz="1600">
                <a:solidFill>
                  <a:srgbClr val="B8F2F5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1" lang="en-US" sz="1600"/>
              <a:t>Poisson </a:t>
            </a:r>
            <a:r>
              <a:rPr b="0" i="1" lang="en-US" sz="1600">
                <a:solidFill>
                  <a:srgbClr val="B8F2F5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b="0" i="1" lang="en-US" sz="1600"/>
              <a:t>Matplotlib </a:t>
            </a:r>
            <a:r>
              <a:rPr b="0" i="1" lang="en-US" sz="1600">
                <a:solidFill>
                  <a:srgbClr val="B8F2F5"/>
                </a:solidFill>
                <a:latin typeface="Calibri"/>
                <a:ea typeface="Calibri"/>
                <a:cs typeface="Calibri"/>
                <a:sym typeface="Calibri"/>
              </a:rPr>
              <a:t>·</a:t>
            </a:r>
            <a:r>
              <a:rPr b="0" i="1" lang="en-US" sz="1600"/>
              <a:t> Seaborn</a:t>
            </a:r>
            <a:endParaRPr b="0" i="1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/>
              <a:t>Hoja de Ruta</a:t>
            </a:r>
            <a:endParaRPr b="1" sz="3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/>
          <p:nvPr/>
        </p:nvSpPr>
        <p:spPr>
          <a:xfrm>
            <a:off x="1135175" y="1368925"/>
            <a:ext cx="9144000" cy="502800"/>
          </a:xfrm>
          <a:prstGeom prst="rect">
            <a:avLst/>
          </a:prstGeom>
          <a:solidFill>
            <a:srgbClr val="1A0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🗺️  Hoja de Ruta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3939898" y="2757200"/>
            <a:ext cx="4312200" cy="658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4673881" y="2793776"/>
            <a:ext cx="2293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🗣️  Bloque 1: </a:t>
            </a:r>
            <a:r>
              <a:rPr b="1" lang="en-US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Distribuciones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4673881" y="3104673"/>
            <a:ext cx="344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Distribución normal,  binomial, Poisson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9"/>
          <p:cNvSpPr/>
          <p:nvPr/>
        </p:nvSpPr>
        <p:spPr>
          <a:xfrm>
            <a:off x="3939898" y="3525299"/>
            <a:ext cx="4312200" cy="658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4673872" y="3561875"/>
            <a:ext cx="3578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🧠  Bloque 2: </a:t>
            </a:r>
            <a:r>
              <a:rPr b="1" lang="en-US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Matplotlib vs Seaborn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/>
          <p:nvPr/>
        </p:nvSpPr>
        <p:spPr>
          <a:xfrm>
            <a:off x="4673881" y="3872772"/>
            <a:ext cx="344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El lápiz digital vs El diseñador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9"/>
          <p:cNvSpPr/>
          <p:nvPr/>
        </p:nvSpPr>
        <p:spPr>
          <a:xfrm>
            <a:off x="3939898" y="4293398"/>
            <a:ext cx="4312200" cy="6585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4673881" y="4329974"/>
            <a:ext cx="2293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🚀  Bloque 3: </a:t>
            </a:r>
            <a:r>
              <a:rPr b="1" lang="en-US" sz="1300">
                <a:solidFill>
                  <a:srgbClr val="111111"/>
                </a:solidFill>
                <a:latin typeface="Calibri"/>
                <a:ea typeface="Calibri"/>
                <a:cs typeface="Calibri"/>
                <a:sym typeface="Calibri"/>
              </a:rPr>
              <a:t>Uso de gráficas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9"/>
          <p:cNvSpPr/>
          <p:nvPr/>
        </p:nvSpPr>
        <p:spPr>
          <a:xfrm>
            <a:off x="4673881" y="4640871"/>
            <a:ext cx="344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Tipos de gráficas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853203" y="361400"/>
            <a:ext cx="57156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¿Qué es una distribución?</a:t>
            </a:r>
            <a:endParaRPr/>
          </a:p>
        </p:txBody>
      </p:sp>
      <p:sp>
        <p:nvSpPr>
          <p:cNvPr id="122" name="Google Shape;122;p20"/>
          <p:cNvSpPr/>
          <p:nvPr/>
        </p:nvSpPr>
        <p:spPr>
          <a:xfrm>
            <a:off x="1430749" y="1505175"/>
            <a:ext cx="9514500" cy="1057200"/>
          </a:xfrm>
          <a:prstGeom prst="rect">
            <a:avLst/>
          </a:prstGeom>
          <a:solidFill>
            <a:srgbClr val="1A0D4E"/>
          </a:solidFill>
          <a:ln cap="flat" cmpd="sng" w="14675">
            <a:solidFill>
              <a:srgbClr val="1A0D4E"/>
            </a:solidFill>
            <a:prstDash val="solid"/>
            <a:round/>
            <a:headEnd len="sm" w="sm" type="none"/>
            <a:tailEnd len="sm" w="sm" type="none"/>
          </a:ln>
          <a:effectLst>
            <a:outerShdw blurRad="117463" rotWithShape="0" algn="bl" dir="8100000" dist="44048">
              <a:srgbClr val="000000">
                <a:alpha val="12160"/>
              </a:srgbClr>
            </a:outerShdw>
          </a:effectLst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1430749" y="1505175"/>
            <a:ext cx="95100" cy="1057200"/>
          </a:xfrm>
          <a:prstGeom prst="rect">
            <a:avLst/>
          </a:prstGeom>
          <a:solidFill>
            <a:srgbClr val="33C6CD"/>
          </a:solidFill>
          <a:ln cap="flat" cmpd="sng" w="14675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1663325" y="1505175"/>
            <a:ext cx="90918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34"/>
              <a:buFont typeface="Calibri"/>
              <a:buNone/>
            </a:pPr>
            <a:r>
              <a:rPr b="0" i="0" lang="en-US" sz="1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distribución describe cómo se reparten los datos.</a:t>
            </a:r>
            <a:endParaRPr b="0" i="0" sz="1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34"/>
              <a:buFont typeface="Calibri"/>
              <a:buNone/>
            </a:pPr>
            <a:r>
              <a:rPr b="0" i="0" lang="en-US" sz="173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¿Dónde se concentran? ¿Hay valores muy raros? ¿Es simétrica o está escorada?</a:t>
            </a:r>
            <a:endParaRPr b="0" i="0" sz="1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/>
          <p:nvPr/>
        </p:nvSpPr>
        <p:spPr>
          <a:xfrm>
            <a:off x="1430749" y="2794913"/>
            <a:ext cx="3065700" cy="2801400"/>
          </a:xfrm>
          <a:prstGeom prst="rect">
            <a:avLst/>
          </a:prstGeom>
          <a:solidFill>
            <a:srgbClr val="FFFFFF"/>
          </a:solidFill>
          <a:ln cap="flat" cmpd="sng" w="146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7463" rotWithShape="0" algn="bl" dir="8100000" dist="44048">
              <a:srgbClr val="000000">
                <a:alpha val="12160"/>
              </a:srgbClr>
            </a:outerShdw>
          </a:effectLst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1430749" y="2794913"/>
            <a:ext cx="3065700" cy="63600"/>
          </a:xfrm>
          <a:prstGeom prst="rect">
            <a:avLst/>
          </a:prstGeom>
          <a:solidFill>
            <a:srgbClr val="4211BA"/>
          </a:solidFill>
          <a:ln cap="flat" cmpd="sng" w="1467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/>
          <p:nvPr/>
        </p:nvSpPr>
        <p:spPr>
          <a:xfrm>
            <a:off x="1430749" y="2858343"/>
            <a:ext cx="306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6"/>
              <a:buFont typeface="Calibri"/>
              <a:buNone/>
            </a:pPr>
            <a:r>
              <a:rPr b="0" i="0" lang="en-US" sz="30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30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1589324" y="3492640"/>
            <a:ext cx="2748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Las notas de un examen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1589324" y="3957792"/>
            <a:ext cx="2748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La mayoría saca 5-7. Muy pocos sacan 1 o 10.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Eso dibuja una campana.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4707958" y="2794913"/>
            <a:ext cx="3065700" cy="2801400"/>
          </a:xfrm>
          <a:prstGeom prst="rect">
            <a:avLst/>
          </a:prstGeom>
          <a:solidFill>
            <a:srgbClr val="FFFFFF"/>
          </a:solidFill>
          <a:ln cap="flat" cmpd="sng" w="146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7463" rotWithShape="0" algn="bl" dir="8100000" dist="44048">
              <a:srgbClr val="000000">
                <a:alpha val="12160"/>
              </a:srgbClr>
            </a:outerShdw>
          </a:effectLst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4707958" y="2794913"/>
            <a:ext cx="3065700" cy="63600"/>
          </a:xfrm>
          <a:prstGeom prst="rect">
            <a:avLst/>
          </a:prstGeom>
          <a:solidFill>
            <a:srgbClr val="33C6CD"/>
          </a:solidFill>
          <a:ln cap="flat" cmpd="sng" w="14675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/>
          <p:nvPr/>
        </p:nvSpPr>
        <p:spPr>
          <a:xfrm>
            <a:off x="4707958" y="2858343"/>
            <a:ext cx="306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6"/>
              <a:buFont typeface="Calibri"/>
              <a:buNone/>
            </a:pPr>
            <a:r>
              <a:rPr b="0" i="0" lang="en-US" sz="30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⚽</a:t>
            </a:r>
            <a:endParaRPr b="0" i="0" sz="30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4866533" y="3492640"/>
            <a:ext cx="2748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Goles por partido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4866533" y="3957792"/>
            <a:ext cx="2748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La mayoría acaban 0-0 o 1-0. Los 5-0 son raros.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Distribución sesgada.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7985167" y="2794913"/>
            <a:ext cx="3065700" cy="2801400"/>
          </a:xfrm>
          <a:prstGeom prst="rect">
            <a:avLst/>
          </a:prstGeom>
          <a:solidFill>
            <a:srgbClr val="FFFFFF"/>
          </a:solidFill>
          <a:ln cap="flat" cmpd="sng" w="146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7463" rotWithShape="0" algn="bl" dir="8100000" dist="44048">
              <a:srgbClr val="000000">
                <a:alpha val="12160"/>
              </a:srgbClr>
            </a:outerShdw>
          </a:effectLst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"/>
          <p:cNvSpPr/>
          <p:nvPr/>
        </p:nvSpPr>
        <p:spPr>
          <a:xfrm>
            <a:off x="7985167" y="2794913"/>
            <a:ext cx="3065700" cy="63600"/>
          </a:xfrm>
          <a:prstGeom prst="rect">
            <a:avLst/>
          </a:prstGeom>
          <a:solidFill>
            <a:srgbClr val="7C3AED"/>
          </a:solidFill>
          <a:ln cap="flat" cmpd="sng" w="146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5700" lIns="105700" spcFirstLastPara="1" rIns="105700" wrap="square" tIns="10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0"/>
          <p:cNvSpPr/>
          <p:nvPr/>
        </p:nvSpPr>
        <p:spPr>
          <a:xfrm>
            <a:off x="7985167" y="2858343"/>
            <a:ext cx="30657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6"/>
              <a:buFont typeface="Calibri"/>
              <a:buNone/>
            </a:pPr>
            <a:r>
              <a:rPr b="0" i="0" lang="en-US" sz="300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300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8143742" y="3492640"/>
            <a:ext cx="27486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387"/>
              <a:buFont typeface="Calibri"/>
              <a:buNone/>
            </a:pPr>
            <a:r>
              <a:rPr b="1" i="0" lang="en-US" sz="1387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Mensajes enviados por día</a:t>
            </a:r>
            <a:endParaRPr b="0" i="0" sz="13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8143742" y="3957792"/>
            <a:ext cx="2748600" cy="14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825" lIns="105700" spcFirstLastPara="1" rIns="105700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Un día mandas 20, otro 80...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72"/>
              <a:buFont typeface="Calibri"/>
              <a:buNone/>
            </a:pPr>
            <a:r>
              <a:rPr b="0" i="0" lang="en-US" sz="127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Los datos no siempre siguen un patrón ordenado.</a:t>
            </a:r>
            <a:endParaRPr b="0" i="0" sz="127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Distribución Normal</a:t>
            </a:r>
            <a:endParaRPr b="1"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1001225" y="1088425"/>
            <a:ext cx="2188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La famosa campana de Gauss</a:t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1099922" y="1594876"/>
            <a:ext cx="51990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769"/>
              <a:buFont typeface="Calibri"/>
              <a:buNone/>
            </a:pPr>
            <a:r>
              <a:rPr b="1" i="0" lang="en-US" sz="1769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¿Cuándo aparece?</a:t>
            </a:r>
            <a:endParaRPr b="0" i="0" sz="176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1099922" y="2149424"/>
            <a:ext cx="5199000" cy="750900"/>
          </a:xfrm>
          <a:prstGeom prst="rect">
            <a:avLst/>
          </a:prstGeom>
          <a:solidFill>
            <a:srgbClr val="1A0D4E"/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1"/>
          <p:cNvSpPr/>
          <p:nvPr/>
        </p:nvSpPr>
        <p:spPr>
          <a:xfrm>
            <a:off x="1169241" y="2149424"/>
            <a:ext cx="647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4"/>
              <a:buFont typeface="Calibri"/>
              <a:buNone/>
            </a:pPr>
            <a:r>
              <a:rPr b="0" i="0" lang="en-US" sz="22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📏</a:t>
            </a:r>
            <a:endParaRPr b="0" i="0" sz="2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1885529" y="2207190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1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Altura de personas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1885529" y="2519123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263"/>
              <a:buFont typeface="Calibri"/>
              <a:buNone/>
            </a:pPr>
            <a:r>
              <a:rPr b="0" i="0" lang="en-US" sz="1263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La mayoría mide ~1,70 m</a:t>
            </a:r>
            <a:endParaRPr b="0" i="0" sz="12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1099922" y="3027458"/>
            <a:ext cx="5199000" cy="750900"/>
          </a:xfrm>
          <a:prstGeom prst="rect">
            <a:avLst/>
          </a:prstGeom>
          <a:solidFill>
            <a:srgbClr val="1A0D4E"/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169241" y="3027458"/>
            <a:ext cx="647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4"/>
              <a:buFont typeface="Calibri"/>
              <a:buNone/>
            </a:pPr>
            <a:r>
              <a:rPr b="0" i="0" lang="en-US" sz="22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1885529" y="3085224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1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Tests de inteligencia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1885529" y="3397157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263"/>
              <a:buFont typeface="Calibri"/>
              <a:buNone/>
            </a:pPr>
            <a:r>
              <a:rPr b="0" i="0" lang="en-US" sz="1263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La mayoría se acerca a 100 puntos</a:t>
            </a:r>
            <a:endParaRPr b="0" i="0" sz="12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1099922" y="3905492"/>
            <a:ext cx="5199000" cy="750900"/>
          </a:xfrm>
          <a:prstGeom prst="rect">
            <a:avLst/>
          </a:prstGeom>
          <a:solidFill>
            <a:srgbClr val="1A0D4E"/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1169241" y="3905492"/>
            <a:ext cx="647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4"/>
              <a:buFont typeface="Calibri"/>
              <a:buNone/>
            </a:pPr>
            <a:r>
              <a:rPr b="0" i="0" lang="en-US" sz="22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🌡️</a:t>
            </a:r>
            <a:endParaRPr b="0" i="0" sz="2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1885529" y="3963258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1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Temperatura media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1885529" y="4275191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263"/>
              <a:buFont typeface="Calibri"/>
              <a:buNone/>
            </a:pPr>
            <a:r>
              <a:rPr b="0" i="0" lang="en-US" sz="1263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Oscila en torno a la media anual</a:t>
            </a:r>
            <a:endParaRPr b="0" i="0" sz="12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099922" y="4783526"/>
            <a:ext cx="5199000" cy="750900"/>
          </a:xfrm>
          <a:prstGeom prst="rect">
            <a:avLst/>
          </a:prstGeom>
          <a:solidFill>
            <a:srgbClr val="1A0D4E"/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1169241" y="4783526"/>
            <a:ext cx="6471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74"/>
              <a:buFont typeface="Calibri"/>
              <a:buNone/>
            </a:pPr>
            <a:r>
              <a:rPr b="0" i="0" lang="en-US" sz="227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b="0" i="0" sz="2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1885529" y="4841292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1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Peso al nacer de bebés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1885529" y="5153225"/>
            <a:ext cx="4274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263"/>
              <a:buFont typeface="Calibri"/>
              <a:buNone/>
            </a:pPr>
            <a:r>
              <a:rPr b="0" i="0" lang="en-US" sz="1263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Concentrado alrededor de 3,4 kg</a:t>
            </a:r>
            <a:endParaRPr b="0" i="0" sz="12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6876443" y="1594876"/>
            <a:ext cx="4852500" cy="4505700"/>
          </a:xfrm>
          <a:prstGeom prst="rect">
            <a:avLst/>
          </a:prstGeom>
          <a:solidFill>
            <a:srgbClr val="1A0D4E"/>
          </a:solidFill>
          <a:ln cap="flat" cmpd="sng" w="16050">
            <a:solidFill>
              <a:srgbClr val="4211B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6991974" y="1675748"/>
            <a:ext cx="4621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42"/>
              <a:buFont typeface="Calibri"/>
              <a:buNone/>
            </a:pPr>
            <a:r>
              <a:rPr b="1" i="0" lang="en-US" sz="164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Regla Empírica</a:t>
            </a:r>
            <a:endParaRPr b="0" i="0" sz="164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7049739" y="5430499"/>
            <a:ext cx="208200" cy="2313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7280800" y="5199437"/>
            <a:ext cx="208200" cy="4620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7511861" y="4795079"/>
            <a:ext cx="208200" cy="8664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7742921" y="4275191"/>
            <a:ext cx="208200" cy="13866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1"/>
          <p:cNvSpPr/>
          <p:nvPr/>
        </p:nvSpPr>
        <p:spPr>
          <a:xfrm>
            <a:off x="7973982" y="3697537"/>
            <a:ext cx="208200" cy="19641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1"/>
          <p:cNvSpPr/>
          <p:nvPr/>
        </p:nvSpPr>
        <p:spPr>
          <a:xfrm>
            <a:off x="8205043" y="3235414"/>
            <a:ext cx="208200" cy="2426100"/>
          </a:xfrm>
          <a:prstGeom prst="rect">
            <a:avLst/>
          </a:prstGeom>
          <a:solidFill>
            <a:srgbClr val="4211BA">
              <a:alpha val="80000"/>
            </a:srgbClr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8436104" y="3027458"/>
            <a:ext cx="208200" cy="2634000"/>
          </a:xfrm>
          <a:prstGeom prst="rect">
            <a:avLst/>
          </a:prstGeom>
          <a:solidFill>
            <a:srgbClr val="33C6CD"/>
          </a:solidFill>
          <a:ln cap="flat" cmpd="sng" w="160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8667165" y="3235414"/>
            <a:ext cx="208200" cy="2426100"/>
          </a:xfrm>
          <a:prstGeom prst="rect">
            <a:avLst/>
          </a:prstGeom>
          <a:solidFill>
            <a:srgbClr val="4211BA">
              <a:alpha val="80000"/>
            </a:srgbClr>
          </a:solidFill>
          <a:ln cap="flat" cmpd="sng" w="16050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8898226" y="3697537"/>
            <a:ext cx="208200" cy="19641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9129286" y="4275191"/>
            <a:ext cx="208200" cy="13866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9360347" y="4795079"/>
            <a:ext cx="208200" cy="8664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/>
          <p:nvPr/>
        </p:nvSpPr>
        <p:spPr>
          <a:xfrm>
            <a:off x="9591408" y="5199437"/>
            <a:ext cx="208200" cy="4620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9822469" y="5430499"/>
            <a:ext cx="208200" cy="2313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6991974" y="2264955"/>
            <a:ext cx="1328400" cy="508200"/>
          </a:xfrm>
          <a:prstGeom prst="rect">
            <a:avLst/>
          </a:prstGeom>
          <a:solidFill>
            <a:srgbClr val="33C6CD"/>
          </a:solidFill>
          <a:ln cap="flat" cmpd="sng" w="1605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  <a:effectLst>
            <a:outerShdw blurRad="128367" rotWithShape="0" algn="bl" dir="8100000" dist="48138">
              <a:srgbClr val="000000">
                <a:alpha val="12160"/>
              </a:srgbClr>
            </a:outerShdw>
          </a:effectLst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6991974" y="2264955"/>
            <a:ext cx="13284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95"/>
              <a:buFont typeface="Calibri"/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68%</a:t>
            </a:r>
            <a:endParaRPr b="0" i="0" sz="1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8401445" y="2264955"/>
            <a:ext cx="32346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0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± 1 desviación estándar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6991974" y="2900374"/>
            <a:ext cx="1328400" cy="508200"/>
          </a:xfrm>
          <a:prstGeom prst="rect">
            <a:avLst/>
          </a:prstGeom>
          <a:solidFill>
            <a:srgbClr val="4211BA"/>
          </a:solidFill>
          <a:ln cap="flat" cmpd="sng" w="1605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  <a:effectLst>
            <a:outerShdw blurRad="128367" rotWithShape="0" algn="bl" dir="8100000" dist="48138">
              <a:srgbClr val="000000">
                <a:alpha val="12160"/>
              </a:srgbClr>
            </a:outerShdw>
          </a:effectLst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6991974" y="2900374"/>
            <a:ext cx="13284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95"/>
              <a:buFont typeface="Calibri"/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95%</a:t>
            </a:r>
            <a:endParaRPr b="0" i="0" sz="1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8401445" y="2900374"/>
            <a:ext cx="32346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0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± 2 desviaciones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6991974" y="3535794"/>
            <a:ext cx="1328400" cy="508200"/>
          </a:xfrm>
          <a:prstGeom prst="rect">
            <a:avLst/>
          </a:prstGeom>
          <a:solidFill>
            <a:srgbClr val="7C3AED"/>
          </a:solidFill>
          <a:ln cap="flat" cmpd="sng" w="16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8367" rotWithShape="0" algn="bl" dir="8100000" dist="48138">
              <a:srgbClr val="000000">
                <a:alpha val="12160"/>
              </a:srgbClr>
            </a:outerShdw>
          </a:effectLst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6991974" y="3535794"/>
            <a:ext cx="13284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95"/>
              <a:buFont typeface="Calibri"/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99.7%</a:t>
            </a:r>
            <a:endParaRPr b="0" i="0" sz="18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401445" y="3535794"/>
            <a:ext cx="32346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50" lIns="115500" spcFirstLastPara="1" rIns="115500" wrap="square" tIns="57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6"/>
              <a:buFont typeface="Calibri"/>
              <a:buNone/>
            </a:pPr>
            <a:r>
              <a:rPr b="0" i="0" lang="en-US" sz="151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± 3 desviaciones</a:t>
            </a:r>
            <a:endParaRPr b="0" i="0" sz="151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Distribución Binomial</a:t>
            </a:r>
            <a:endParaRPr b="1"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001225" y="1088425"/>
            <a:ext cx="44412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i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algo puede pasar… o no pasar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9360347" y="4795079"/>
            <a:ext cx="208200" cy="8664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9591408" y="5199437"/>
            <a:ext cx="208200" cy="4620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9822469" y="5430499"/>
            <a:ext cx="208200" cy="231300"/>
          </a:xfrm>
          <a:prstGeom prst="rect">
            <a:avLst/>
          </a:prstGeom>
          <a:solidFill>
            <a:srgbClr val="3D2B8A">
              <a:alpha val="80000"/>
            </a:srgbClr>
          </a:solidFill>
          <a:ln cap="flat" cmpd="sng" w="16050">
            <a:solidFill>
              <a:srgbClr val="3D2B8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500" lIns="115500" spcFirstLastPara="1" rIns="115500" wrap="square" tIns="115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1093872" y="1515150"/>
            <a:ext cx="5075400" cy="1239300"/>
          </a:xfrm>
          <a:prstGeom prst="rect">
            <a:avLst/>
          </a:prstGeom>
          <a:solidFill>
            <a:srgbClr val="4211BA"/>
          </a:solidFill>
          <a:ln cap="flat" cmpd="sng" w="164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  <a:effectLst>
            <a:outerShdw blurRad="131150" rotWithShape="0" algn="bl" dir="8100000" dist="49181">
              <a:srgbClr val="000000">
                <a:alpha val="12160"/>
              </a:srgbClr>
            </a:outerShdw>
          </a:effectLst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2"/>
          <p:cNvSpPr/>
          <p:nvPr/>
        </p:nvSpPr>
        <p:spPr>
          <a:xfrm>
            <a:off x="1235514" y="1515150"/>
            <a:ext cx="4792200" cy="123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7"/>
              <a:buFont typeface="Calibri"/>
              <a:buNone/>
            </a:pPr>
            <a:r>
              <a:rPr b="0" i="0" lang="en-US" sz="180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 intentos fijos. Cada uno puede ser</a:t>
            </a:r>
            <a:endParaRPr b="0" i="0" sz="18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7"/>
              <a:buFont typeface="Calibri"/>
              <a:buNone/>
            </a:pPr>
            <a:r>
              <a:rPr b="0" i="0" lang="en-US" sz="180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ÉXITO o FRACASO. ¿Cuántos éxitos?</a:t>
            </a:r>
            <a:endParaRPr b="0" i="0" sz="18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6405458" y="1538757"/>
            <a:ext cx="495600" cy="377700"/>
          </a:xfrm>
          <a:prstGeom prst="rect">
            <a:avLst/>
          </a:prstGeom>
          <a:solidFill>
            <a:srgbClr val="33C6CD"/>
          </a:solidFill>
          <a:ln cap="flat" cmpd="sng" w="164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"/>
          <p:cNvSpPr/>
          <p:nvPr/>
        </p:nvSpPr>
        <p:spPr>
          <a:xfrm>
            <a:off x="6405458" y="1538757"/>
            <a:ext cx="495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820"/>
              </a:buClr>
              <a:buSzPts val="1807"/>
              <a:buFont typeface="Calibri"/>
              <a:buNone/>
            </a:pPr>
            <a:r>
              <a:rPr b="1" i="0" lang="en-US" sz="1807" u="none" cap="none" strike="noStrike">
                <a:solidFill>
                  <a:srgbClr val="0C082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8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6995635" y="1538757"/>
            <a:ext cx="29508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20"/>
              <a:buFont typeface="Calibri"/>
              <a:buNone/>
            </a:pPr>
            <a:r>
              <a:rPr b="1" i="0" lang="en-US" sz="1420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Nº de intentos</a:t>
            </a:r>
            <a:endParaRPr b="0" i="0" sz="14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6995635" y="1751220"/>
            <a:ext cx="47214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91"/>
              <a:buFont typeface="Calibri"/>
              <a:buNone/>
            </a:pPr>
            <a:r>
              <a:rPr b="0" i="0" lang="en-US" sz="1291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Ej: lanzar una moneda 10 veces</a:t>
            </a:r>
            <a:endParaRPr b="0" i="0" sz="12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6405458" y="1987291"/>
            <a:ext cx="495600" cy="377700"/>
          </a:xfrm>
          <a:prstGeom prst="rect">
            <a:avLst/>
          </a:prstGeom>
          <a:solidFill>
            <a:srgbClr val="33C6CD"/>
          </a:solidFill>
          <a:ln cap="flat" cmpd="sng" w="164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6405458" y="1987291"/>
            <a:ext cx="495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820"/>
              </a:buClr>
              <a:buSzPts val="1807"/>
              <a:buFont typeface="Calibri"/>
              <a:buNone/>
            </a:pPr>
            <a:r>
              <a:rPr b="1" i="0" lang="en-US" sz="1807" u="none" cap="none" strike="noStrike">
                <a:solidFill>
                  <a:srgbClr val="0C082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endParaRPr b="0" i="0" sz="18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6995635" y="1987291"/>
            <a:ext cx="29508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20"/>
              <a:buFont typeface="Calibri"/>
              <a:buNone/>
            </a:pPr>
            <a:r>
              <a:rPr b="1" i="0" lang="en-US" sz="1420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Prob. de éxito</a:t>
            </a:r>
            <a:endParaRPr b="0" i="0" sz="14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6995635" y="2199755"/>
            <a:ext cx="47214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91"/>
              <a:buFont typeface="Calibri"/>
              <a:buNone/>
            </a:pPr>
            <a:r>
              <a:rPr b="0" i="0" lang="en-US" sz="1291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Ej: probabilidad de cara = 0.5</a:t>
            </a:r>
            <a:endParaRPr b="0" i="0" sz="12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6405458" y="2435825"/>
            <a:ext cx="495600" cy="377700"/>
          </a:xfrm>
          <a:prstGeom prst="rect">
            <a:avLst/>
          </a:prstGeom>
          <a:solidFill>
            <a:srgbClr val="33C6CD"/>
          </a:solidFill>
          <a:ln cap="flat" cmpd="sng" w="164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2"/>
          <p:cNvSpPr/>
          <p:nvPr/>
        </p:nvSpPr>
        <p:spPr>
          <a:xfrm>
            <a:off x="6405458" y="2435825"/>
            <a:ext cx="4956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820"/>
              </a:buClr>
              <a:buSzPts val="1807"/>
              <a:buFont typeface="Calibri"/>
              <a:buNone/>
            </a:pPr>
            <a:r>
              <a:rPr b="1" i="0" lang="en-US" sz="1807" u="none" cap="none" strike="noStrike">
                <a:solidFill>
                  <a:srgbClr val="0C082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b="0" i="0" sz="180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995635" y="2435825"/>
            <a:ext cx="29508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20"/>
              <a:buFont typeface="Calibri"/>
              <a:buNone/>
            </a:pPr>
            <a:r>
              <a:rPr b="1" i="0" lang="en-US" sz="1420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Éxitos que buscamos</a:t>
            </a:r>
            <a:endParaRPr b="0" i="0" sz="14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995635" y="2648289"/>
            <a:ext cx="47214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291"/>
              <a:buFont typeface="Calibri"/>
              <a:buNone/>
            </a:pPr>
            <a:r>
              <a:rPr b="0" i="0" lang="en-US" sz="1291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Ej: ¿cuántas veces sale cara?</a:t>
            </a:r>
            <a:endParaRPr b="0" i="0" sz="129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093872" y="3073216"/>
            <a:ext cx="5134500" cy="1510800"/>
          </a:xfrm>
          <a:prstGeom prst="rect">
            <a:avLst/>
          </a:prstGeom>
          <a:solidFill>
            <a:srgbClr val="FFFFFF"/>
          </a:solidFill>
          <a:ln cap="flat" cmpd="sng" w="164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31150" rotWithShape="0" algn="bl" dir="8100000" dist="49181">
              <a:srgbClr val="000000">
                <a:alpha val="12160"/>
              </a:srgbClr>
            </a:outerShdw>
          </a:effectLst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1093872" y="3073216"/>
            <a:ext cx="82500" cy="1510800"/>
          </a:xfrm>
          <a:prstGeom prst="rect">
            <a:avLst/>
          </a:prstGeom>
          <a:solidFill>
            <a:srgbClr val="4211BA"/>
          </a:solidFill>
          <a:ln cap="flat" cmpd="sng" w="164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1235514" y="3073216"/>
            <a:ext cx="7083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0"/>
              <a:buFont typeface="Calibri"/>
              <a:buNone/>
            </a:pPr>
            <a:r>
              <a:rPr b="0" i="0" lang="en-US" sz="28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🪙</a:t>
            </a:r>
            <a:endParaRPr b="0" i="0" sz="28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1990940" y="3167644"/>
            <a:ext cx="4072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549"/>
              <a:buFont typeface="Calibri"/>
              <a:buNone/>
            </a:pPr>
            <a:r>
              <a:rPr b="1" i="0" lang="en-US" sz="1549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Lanzar una moneda</a:t>
            </a:r>
            <a:endParaRPr b="0" i="0" sz="15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990940" y="3580768"/>
            <a:ext cx="40725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10 lanzamientos → ¿cuántas caras?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p = 0.5  ·  n = 10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6582511" y="3073216"/>
            <a:ext cx="5134500" cy="1510800"/>
          </a:xfrm>
          <a:prstGeom prst="rect">
            <a:avLst/>
          </a:prstGeom>
          <a:solidFill>
            <a:srgbClr val="FFFFFF"/>
          </a:solidFill>
          <a:ln cap="flat" cmpd="sng" w="164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31150" rotWithShape="0" algn="bl" dir="8100000" dist="49181">
              <a:srgbClr val="000000">
                <a:alpha val="12160"/>
              </a:srgbClr>
            </a:outerShdw>
          </a:effectLst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"/>
          <p:cNvSpPr/>
          <p:nvPr/>
        </p:nvSpPr>
        <p:spPr>
          <a:xfrm>
            <a:off x="6582511" y="3073216"/>
            <a:ext cx="82500" cy="1510800"/>
          </a:xfrm>
          <a:prstGeom prst="rect">
            <a:avLst/>
          </a:prstGeom>
          <a:solidFill>
            <a:srgbClr val="4211BA"/>
          </a:solidFill>
          <a:ln cap="flat" cmpd="sng" w="164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6724154" y="3073216"/>
            <a:ext cx="7083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0"/>
              <a:buFont typeface="Calibri"/>
              <a:buNone/>
            </a:pPr>
            <a:r>
              <a:rPr b="0" i="0" lang="en-US" sz="28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💊</a:t>
            </a:r>
            <a:endParaRPr b="0" i="0" sz="28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479579" y="3167644"/>
            <a:ext cx="4072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549"/>
              <a:buFont typeface="Calibri"/>
              <a:buNone/>
            </a:pPr>
            <a:r>
              <a:rPr b="1" i="0" lang="en-US" sz="1549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Eficacia de un medicamento</a:t>
            </a:r>
            <a:endParaRPr b="0" i="0" sz="15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7479579" y="3580768"/>
            <a:ext cx="40725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Cura al 80% → de 5 pacientes,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¿cuántos mejoran?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1093872" y="4749318"/>
            <a:ext cx="5134500" cy="1510800"/>
          </a:xfrm>
          <a:prstGeom prst="rect">
            <a:avLst/>
          </a:prstGeom>
          <a:solidFill>
            <a:srgbClr val="FFFFFF"/>
          </a:solidFill>
          <a:ln cap="flat" cmpd="sng" w="164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31150" rotWithShape="0" algn="bl" dir="8100000" dist="49181">
              <a:srgbClr val="000000">
                <a:alpha val="12160"/>
              </a:srgbClr>
            </a:outerShdw>
          </a:effectLst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1093872" y="4749318"/>
            <a:ext cx="82500" cy="1510800"/>
          </a:xfrm>
          <a:prstGeom prst="rect">
            <a:avLst/>
          </a:prstGeom>
          <a:solidFill>
            <a:srgbClr val="4211BA"/>
          </a:solidFill>
          <a:ln cap="flat" cmpd="sng" w="164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1235514" y="4749318"/>
            <a:ext cx="7083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0"/>
              <a:buFont typeface="Calibri"/>
              <a:buNone/>
            </a:pPr>
            <a:r>
              <a:rPr b="0" i="0" lang="en-US" sz="28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8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990940" y="4843746"/>
            <a:ext cx="4072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549"/>
              <a:buFont typeface="Calibri"/>
              <a:buNone/>
            </a:pPr>
            <a:r>
              <a:rPr b="1" i="0" lang="en-US" sz="1549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Abandono de carrito online</a:t>
            </a:r>
            <a:endParaRPr b="0" i="0" sz="15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990940" y="5256870"/>
            <a:ext cx="40725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El 30% compra → de 100 visitas,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¿cuántas ventas espero?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582511" y="4749318"/>
            <a:ext cx="5134500" cy="1510800"/>
          </a:xfrm>
          <a:prstGeom prst="rect">
            <a:avLst/>
          </a:prstGeom>
          <a:solidFill>
            <a:srgbClr val="FFFFFF"/>
          </a:solidFill>
          <a:ln cap="flat" cmpd="sng" w="164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31150" rotWithShape="0" algn="bl" dir="8100000" dist="49181">
              <a:srgbClr val="000000">
                <a:alpha val="12160"/>
              </a:srgbClr>
            </a:outerShdw>
          </a:effectLst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6582511" y="4749318"/>
            <a:ext cx="82500" cy="1510800"/>
          </a:xfrm>
          <a:prstGeom prst="rect">
            <a:avLst/>
          </a:prstGeom>
          <a:solidFill>
            <a:srgbClr val="4211BA"/>
          </a:solidFill>
          <a:ln cap="flat" cmpd="sng" w="164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8025" lIns="118025" spcFirstLastPara="1" rIns="118025" wrap="square" tIns="118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6724154" y="4749318"/>
            <a:ext cx="7083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40"/>
              <a:buFont typeface="Calibri"/>
              <a:buNone/>
            </a:pPr>
            <a:r>
              <a:rPr b="0" i="0" lang="en-US" sz="284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84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479579" y="4843746"/>
            <a:ext cx="4072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549"/>
              <a:buFont typeface="Calibri"/>
              <a:buNone/>
            </a:pPr>
            <a:r>
              <a:rPr b="1" i="0" lang="en-US" sz="1549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Lanzar 3 penaltis</a:t>
            </a:r>
            <a:endParaRPr b="0" i="0" sz="15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479579" y="5256870"/>
            <a:ext cx="40725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9000" lIns="118025" spcFirstLastPara="1" rIns="118025" wrap="square" tIns="59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Metes el 70% → ¿cuántos goles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355"/>
              <a:buFont typeface="Calibri"/>
              <a:buNone/>
            </a:pPr>
            <a:r>
              <a:rPr b="0" i="0" lang="en-US" sz="1355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anoto de 3 intentos?</a:t>
            </a:r>
            <a:endParaRPr b="0" i="0" sz="13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853204" y="421200"/>
            <a:ext cx="3811800" cy="72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/>
              <a:t>Distribución Poisson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907568" y="70401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¿Cuántas veces ocurrirá algo en un intervalo de tiempo?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716375" y="1246872"/>
            <a:ext cx="1348500" cy="1225800"/>
          </a:xfrm>
          <a:prstGeom prst="rect">
            <a:avLst/>
          </a:prstGeom>
          <a:solidFill>
            <a:srgbClr val="33C6CD"/>
          </a:solidFill>
          <a:ln cap="flat" cmpd="sng" w="17025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716375" y="1246872"/>
            <a:ext cx="1348500" cy="12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820"/>
              </a:buClr>
              <a:buSzPts val="5631"/>
              <a:buFont typeface="Calibri"/>
              <a:buNone/>
            </a:pPr>
            <a:r>
              <a:rPr b="1" i="0" lang="en-US" sz="5631" u="none" cap="none" strike="noStrike">
                <a:solidFill>
                  <a:srgbClr val="0C0820"/>
                </a:solidFill>
                <a:latin typeface="Calibri"/>
                <a:ea typeface="Calibri"/>
                <a:cs typeface="Calibri"/>
                <a:sym typeface="Calibri"/>
              </a:rPr>
              <a:t>λ</a:t>
            </a:r>
            <a:endParaRPr b="0" i="0" sz="563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2248742" y="1246872"/>
            <a:ext cx="9561900" cy="12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7"/>
              <a:buFont typeface="Calibri"/>
              <a:buNone/>
            </a:pPr>
            <a:r>
              <a:rPr b="0" i="0" lang="en-US" sz="18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Lambda (λ) = cuántos eventos ocurren en promedio</a:t>
            </a:r>
            <a:r>
              <a:rPr lang="en-US" sz="187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unidad de tiempo o espacio.</a:t>
            </a:r>
            <a:endParaRPr b="0" i="0" sz="18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716375" y="2754722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716375" y="2754722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🚑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513206" y="2828276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Llamadas a urgencias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838964" y="3428964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3 llamadas/hora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838964" y="3759955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¿Cuántas llegarán en la próxima hora?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516645" y="2754722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4516645" y="2754722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📧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313475" y="2828276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Emails de spam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639234" y="3428964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5 por día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4639234" y="3759955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¿Cuántos recibiré esta mañana?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8316914" y="2754722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8316914" y="2754722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☔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9113745" y="2828276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Días de lluvia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8439504" y="3428964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8 por mes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8439504" y="3759955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¿Cuántos lloverá esta semana?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716375" y="4569046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716375" y="4569046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🐛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1513206" y="4642599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Bugs en software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38964" y="5243287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2 por sprint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38964" y="5574279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¿Cuántos bugs encontraré?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516645" y="4569046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4516645" y="4569046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313475" y="4642599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Coches en un semáforo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4639234" y="5243287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6 por minuto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639234" y="5574279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¿Cuántos pasarán en 30 seg?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8316914" y="4569046"/>
            <a:ext cx="3555000" cy="1593600"/>
          </a:xfrm>
          <a:prstGeom prst="rect">
            <a:avLst/>
          </a:prstGeom>
          <a:solidFill>
            <a:srgbClr val="1A0D4E"/>
          </a:solidFill>
          <a:ln cap="flat" cmpd="sng" w="17025">
            <a:solidFill>
              <a:srgbClr val="4211BA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36210" rotWithShape="0" algn="bl" dir="8100000" dist="51079">
              <a:srgbClr val="000000">
                <a:alpha val="12160"/>
              </a:srgbClr>
            </a:outerShdw>
          </a:effectLst>
        </p:spPr>
        <p:txBody>
          <a:bodyPr anchorCtr="0" anchor="ctr" bIns="122575" lIns="122575" spcFirstLastPara="1" rIns="122575" wrap="square" tIns="122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8316914" y="4569046"/>
            <a:ext cx="7968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9"/>
              <a:buFont typeface="Calibri"/>
              <a:buNone/>
            </a:pPr>
            <a:r>
              <a:rPr b="0" i="0" lang="en-US" sz="294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b="0" i="0" sz="294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9113745" y="4642599"/>
            <a:ext cx="26355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Ingresos hospitalarios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8439504" y="5243287"/>
            <a:ext cx="3310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75"/>
              <a:buFont typeface="Calibri"/>
              <a:buNone/>
            </a:pPr>
            <a:r>
              <a:rPr b="1" i="0" lang="en-US" sz="147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λ = 4 por turno</a:t>
            </a:r>
            <a:endParaRPr b="0" i="0" sz="147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8439504" y="5574279"/>
            <a:ext cx="33102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1275" lIns="122575" spcFirstLastPara="1" rIns="122575" wrap="square" tIns="61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341"/>
              <a:buFont typeface="Calibri"/>
              <a:buNone/>
            </a:pPr>
            <a:r>
              <a:rPr b="0" i="0" lang="en-US" sz="1341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¿Cuántos pacientes llegarán?</a:t>
            </a:r>
            <a:endParaRPr b="0" i="0" sz="13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4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¿Cuál distribución uso?</a:t>
            </a:r>
            <a:endParaRPr b="1"/>
          </a:p>
        </p:txBody>
      </p:sp>
      <p:sp>
        <p:nvSpPr>
          <p:cNvPr id="276" name="Google Shape;276;p24"/>
          <p:cNvSpPr/>
          <p:nvPr/>
        </p:nvSpPr>
        <p:spPr>
          <a:xfrm>
            <a:off x="945625" y="1141200"/>
            <a:ext cx="203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Mapa de decisión rápido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1763600" y="1834099"/>
            <a:ext cx="3062700" cy="4035600"/>
          </a:xfrm>
          <a:prstGeom prst="rect">
            <a:avLst/>
          </a:prstGeom>
          <a:solidFill>
            <a:srgbClr val="F0ECFF"/>
          </a:solidFill>
          <a:ln cap="flat" cmpd="sng" w="143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4973" rotWithShape="0" algn="bl" dir="8100000" dist="43115">
              <a:srgbClr val="000000">
                <a:alpha val="12160"/>
              </a:srgbClr>
            </a:outerShdw>
          </a:effectLst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1763600" y="1834099"/>
            <a:ext cx="3062700" cy="517500"/>
          </a:xfrm>
          <a:prstGeom prst="rect">
            <a:avLst/>
          </a:prstGeom>
          <a:solidFill>
            <a:srgbClr val="4211BA"/>
          </a:solidFill>
          <a:ln cap="flat" cmpd="sng" w="1437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1763600" y="1834099"/>
            <a:ext cx="306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4"/>
              <a:buFont typeface="Calibri"/>
              <a:buNone/>
            </a:pPr>
            <a:r>
              <a:rPr b="1" i="0" lang="en-US" sz="1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🔔 Normal</a:t>
            </a:r>
            <a:endParaRPr b="0" i="0" sz="15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1918813" y="2485994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11BA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4211BA"/>
                </a:solidFill>
                <a:latin typeface="Calibri"/>
                <a:ea typeface="Calibri"/>
                <a:cs typeface="Calibri"/>
                <a:sym typeface="Calibri"/>
              </a:rPr>
              <a:t>CUÁNDO USARLA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1918813" y="2713640"/>
            <a:ext cx="275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Medidas continuas que se agrupan alrededor de una media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1918813" y="3365536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11BA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4211BA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1918813" y="3593182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μ (media) y σ (desviación estándar)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1918813" y="3986388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11BA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4211BA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918813" y="4214035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¿La altura de las personas?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1918813" y="4524461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¿Los errores de medición?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918813" y="4834887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¿El peso de un producto?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992037" y="1834099"/>
            <a:ext cx="3062700" cy="4035600"/>
          </a:xfrm>
          <a:prstGeom prst="rect">
            <a:avLst/>
          </a:prstGeom>
          <a:solidFill>
            <a:srgbClr val="E6FAFB"/>
          </a:solidFill>
          <a:ln cap="flat" cmpd="sng" w="143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4973" rotWithShape="0" algn="bl" dir="8100000" dist="43115">
              <a:srgbClr val="000000">
                <a:alpha val="12160"/>
              </a:srgbClr>
            </a:outerShdw>
          </a:effectLst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4992037" y="1834099"/>
            <a:ext cx="3062700" cy="517500"/>
          </a:xfrm>
          <a:prstGeom prst="rect">
            <a:avLst/>
          </a:prstGeom>
          <a:solidFill>
            <a:srgbClr val="33C6CD"/>
          </a:solidFill>
          <a:ln cap="flat" cmpd="sng" w="14375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4992037" y="1834099"/>
            <a:ext cx="306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4"/>
              <a:buFont typeface="Calibri"/>
              <a:buNone/>
            </a:pPr>
            <a:r>
              <a:rPr b="1" i="0" lang="en-US" sz="1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🪙 Binomial</a:t>
            </a:r>
            <a:endParaRPr b="0" i="0" sz="15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5147251" y="2485994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CUÁNDO USARLA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147251" y="2713640"/>
            <a:ext cx="275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N intentos fijos. Cada uno puede ser Éxito o Fracaso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5147251" y="3365536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5147251" y="3593182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n (intentos) y p (prob. de éxito)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5147251" y="3986388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5147251" y="4214035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¿Cuántos tests superaré de 5?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5147251" y="4524461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¿Cuántos clientes comprarán?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5147251" y="4834887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¿Cuántas caras en 20 lanzamientos?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>
            <a:off x="8220475" y="1834099"/>
            <a:ext cx="3062700" cy="4035600"/>
          </a:xfrm>
          <a:prstGeom prst="rect">
            <a:avLst/>
          </a:prstGeom>
          <a:solidFill>
            <a:srgbClr val="F3EEFF"/>
          </a:solidFill>
          <a:ln cap="flat" cmpd="sng" w="14375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4973" rotWithShape="0" algn="bl" dir="8100000" dist="43115">
              <a:srgbClr val="000000">
                <a:alpha val="12160"/>
              </a:srgbClr>
            </a:outerShdw>
          </a:effectLst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8220475" y="1834099"/>
            <a:ext cx="3062700" cy="517500"/>
          </a:xfrm>
          <a:prstGeom prst="rect">
            <a:avLst/>
          </a:prstGeom>
          <a:solidFill>
            <a:srgbClr val="7C3AED"/>
          </a:solidFill>
          <a:ln cap="flat" cmpd="sng" w="1437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50" lIns="103450" spcFirstLastPara="1" rIns="103450" wrap="square" tIns="103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8220475" y="1834099"/>
            <a:ext cx="30627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84"/>
              <a:buFont typeface="Calibri"/>
              <a:buNone/>
            </a:pPr>
            <a:r>
              <a:rPr b="1" i="0" lang="en-US" sz="158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Poisson</a:t>
            </a:r>
            <a:endParaRPr b="0" i="0" sz="158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8375688" y="2485994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CUÁNDO USARLA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8375688" y="2713640"/>
            <a:ext cx="2752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Contamos eventos que ocurren en un intervalo de tiempo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8375688" y="3365536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8375688" y="3593182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88"/>
              <a:buFont typeface="Calibri"/>
              <a:buNone/>
            </a:pPr>
            <a:r>
              <a:rPr b="0" i="0" lang="en-US" sz="1188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λ (tasa media de ocurrencia)</a:t>
            </a:r>
            <a:endParaRPr b="0" i="0" sz="118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8375688" y="3986388"/>
            <a:ext cx="27525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18"/>
              <a:buFont typeface="Calibri"/>
              <a:buNone/>
            </a:pPr>
            <a:r>
              <a:rPr b="1" i="0" lang="en-US" sz="101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0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8375688" y="4214035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¿Cuántos emails hoy?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8375688" y="4524461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¿Cuántos accidentes esta semana?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8375688" y="4834887"/>
            <a:ext cx="27525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1725" lIns="103450" spcFirstLastPara="1" rIns="103450" wrap="square" tIns="517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132"/>
              <a:buFont typeface="Calibri"/>
              <a:buNone/>
            </a:pPr>
            <a:r>
              <a:rPr b="0" i="0" lang="en-US" sz="1132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→ ¿Clientes por hora?</a:t>
            </a:r>
            <a:endParaRPr b="0" i="0" sz="113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"/>
          <p:cNvSpPr txBox="1"/>
          <p:nvPr>
            <p:ph type="title"/>
          </p:nvPr>
        </p:nvSpPr>
        <p:spPr>
          <a:xfrm>
            <a:off x="853207" y="421200"/>
            <a:ext cx="9000000" cy="72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Arial Black"/>
              <a:buNone/>
            </a:pPr>
            <a:r>
              <a:rPr b="1" lang="en-US" sz="26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📊</a:t>
            </a:r>
            <a:r>
              <a:rPr b="1" lang="en-US" sz="2600">
                <a:solidFill>
                  <a:srgbClr val="4211BA"/>
                </a:solidFill>
                <a:latin typeface="Arial Black"/>
                <a:ea typeface="Arial Black"/>
                <a:cs typeface="Arial Black"/>
                <a:sym typeface="Arial Black"/>
              </a:rPr>
              <a:t>  </a:t>
            </a:r>
            <a:r>
              <a:rPr b="1" lang="en-US" sz="2600">
                <a:solidFill>
                  <a:srgbClr val="4211BA"/>
                </a:solidFill>
                <a:latin typeface="Arial Black"/>
                <a:ea typeface="Arial Black"/>
                <a:cs typeface="Arial Black"/>
                <a:sym typeface="Arial Black"/>
              </a:rPr>
              <a:t>Matplotlib &amp; Seaborn</a:t>
            </a:r>
            <a:r>
              <a:rPr lang="en-US" sz="2600">
                <a:solidFill>
                  <a:srgbClr val="4211BA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>
              <a:solidFill>
                <a:srgbClr val="4211BA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853193" y="107281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b="0" i="1" lang="en-US" sz="12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erramientas de visualización en Python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1417099" y="1804249"/>
            <a:ext cx="4755300" cy="4301400"/>
          </a:xfrm>
          <a:prstGeom prst="rect">
            <a:avLst/>
          </a:prstGeom>
          <a:solidFill>
            <a:srgbClr val="1A0D4E"/>
          </a:solidFill>
          <a:ln cap="flat" cmpd="sng" w="15000">
            <a:solidFill>
              <a:srgbClr val="4211B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0083" rotWithShape="0" algn="bl" dir="8100000" dist="45031">
              <a:srgbClr val="000000">
                <a:alpha val="12160"/>
              </a:srgbClr>
            </a:outerShdw>
          </a:effectLst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1417099" y="1804249"/>
            <a:ext cx="4755300" cy="540300"/>
          </a:xfrm>
          <a:prstGeom prst="rect">
            <a:avLst/>
          </a:prstGeom>
          <a:solidFill>
            <a:srgbClr val="4211BA"/>
          </a:solidFill>
          <a:ln cap="flat" cmpd="sng" w="150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1417099" y="1804249"/>
            <a:ext cx="475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9"/>
              <a:buFont typeface="Calibri"/>
              <a:buNone/>
            </a:pPr>
            <a:r>
              <a:rPr b="1" i="0" lang="en-US" sz="200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20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1611634" y="2452696"/>
            <a:ext cx="443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18"/>
              <a:buFont typeface="Calibri"/>
              <a:buNone/>
            </a:pPr>
            <a:r>
              <a:rPr b="1" i="1" lang="en-US" sz="141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La base de todo</a:t>
            </a:r>
            <a:endParaRPr b="0" i="0" sz="14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611634" y="2776919"/>
            <a:ext cx="4431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un lápiz y papel digital.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Tú decides EXACTAMENTE cómo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ve cada elemento.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1611634" y="3695552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Control total sobre cada detalle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611634" y="4127850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La librería más popular de Python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1611634" y="4560148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Ideal para gráficas muy personalizadas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1611634" y="4992446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⚠️  Requiere más líneas de código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1611634" y="5424744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⚠️  Menos bonito por defecto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6604684" y="1804249"/>
            <a:ext cx="4755300" cy="4301400"/>
          </a:xfrm>
          <a:prstGeom prst="rect">
            <a:avLst/>
          </a:prstGeom>
          <a:solidFill>
            <a:srgbClr val="1A0D4E"/>
          </a:solidFill>
          <a:ln cap="flat" cmpd="sng" w="15000">
            <a:solidFill>
              <a:srgbClr val="33C6CD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0083" rotWithShape="0" algn="bl" dir="8100000" dist="45031">
              <a:srgbClr val="000000">
                <a:alpha val="12160"/>
              </a:srgbClr>
            </a:outerShdw>
          </a:effectLst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6604684" y="1804249"/>
            <a:ext cx="4755300" cy="540300"/>
          </a:xfrm>
          <a:prstGeom prst="rect">
            <a:avLst/>
          </a:prstGeom>
          <a:solidFill>
            <a:srgbClr val="33C6CD"/>
          </a:solidFill>
          <a:ln cap="flat" cmpd="sng" w="150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5"/>
          <p:cNvSpPr/>
          <p:nvPr/>
        </p:nvSpPr>
        <p:spPr>
          <a:xfrm>
            <a:off x="6604684" y="1804249"/>
            <a:ext cx="4755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C0820"/>
              </a:buClr>
              <a:buSzPts val="2009"/>
              <a:buFont typeface="Calibri"/>
              <a:buNone/>
            </a:pPr>
            <a:r>
              <a:rPr b="1" i="0" lang="en-US" sz="2009" u="none" cap="none" strike="noStrike">
                <a:solidFill>
                  <a:srgbClr val="0C0820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200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6799218" y="2452696"/>
            <a:ext cx="443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418"/>
              <a:buFont typeface="Calibri"/>
              <a:buNone/>
            </a:pPr>
            <a:r>
              <a:rPr b="1" i="1" lang="en-US" sz="141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Construido sobre Matplotlib</a:t>
            </a:r>
            <a:endParaRPr b="0" i="0" sz="141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6799218" y="2776919"/>
            <a:ext cx="44310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tener un diseñador.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pocas líneas obtienes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9"/>
              <a:buFont typeface="Calibri"/>
              <a:buNone/>
            </a:pPr>
            <a:r>
              <a:rPr b="0" i="0" lang="en-US" sz="135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gráficas profesionales.</a:t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6799218" y="3695552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Gráficas bonitas por defecto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5"/>
          <p:cNvSpPr/>
          <p:nvPr/>
        </p:nvSpPr>
        <p:spPr>
          <a:xfrm>
            <a:off x="6799218" y="4127850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Ideal para explorar datos rápido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5"/>
          <p:cNvSpPr/>
          <p:nvPr/>
        </p:nvSpPr>
        <p:spPr>
          <a:xfrm>
            <a:off x="6799218" y="4560148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Integra muy bien con Pandas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6799218" y="4992446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✅  Menos código para más resultado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6799218" y="5424744"/>
            <a:ext cx="44310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025" lIns="108050" spcFirstLastPara="1" rIns="108050" wrap="square" tIns="54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A5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⚠️  Menos flexible para personalizar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5977851" y="3317291"/>
            <a:ext cx="821100" cy="821100"/>
          </a:xfrm>
          <a:prstGeom prst="ellipse">
            <a:avLst/>
          </a:prstGeom>
          <a:solidFill>
            <a:srgbClr val="0C0820"/>
          </a:solidFill>
          <a:ln cap="flat" cmpd="sng" w="150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8050" lIns="108050" spcFirstLastPara="1" rIns="108050" wrap="square" tIns="10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5"/>
          <p:cNvSpPr/>
          <p:nvPr/>
        </p:nvSpPr>
        <p:spPr>
          <a:xfrm>
            <a:off x="5977851" y="3317291"/>
            <a:ext cx="821100" cy="8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55"/>
              <a:buFont typeface="Calibri"/>
              <a:buNone/>
            </a:pPr>
            <a:r>
              <a:rPr b="1" i="0" lang="en-US" sz="1655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165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 txBox="1"/>
          <p:nvPr>
            <p:ph type="title"/>
          </p:nvPr>
        </p:nvSpPr>
        <p:spPr>
          <a:xfrm>
            <a:off x="827350" y="421200"/>
            <a:ext cx="3369300" cy="720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¿Qué gráfica uso?</a:t>
            </a:r>
            <a:endParaRPr b="1"/>
          </a:p>
        </p:txBody>
      </p:sp>
      <p:sp>
        <p:nvSpPr>
          <p:cNvPr id="345" name="Google Shape;345;p26"/>
          <p:cNvSpPr/>
          <p:nvPr/>
        </p:nvSpPr>
        <p:spPr>
          <a:xfrm>
            <a:off x="1638464" y="1752944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1638464" y="1752944"/>
            <a:ext cx="2941200" cy="59700"/>
          </a:xfrm>
          <a:prstGeom prst="rect">
            <a:avLst/>
          </a:prstGeom>
          <a:solidFill>
            <a:srgbClr val="4211BA"/>
          </a:solidFill>
          <a:ln cap="flat" cmpd="sng" w="138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1787512" y="1872183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📊  Histograma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1787512" y="2249772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Ver cómo se distribuyen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datos continuos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1787512" y="2686980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Altura de 100 personas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757703" y="3322920"/>
            <a:ext cx="2682900" cy="258300"/>
          </a:xfrm>
          <a:prstGeom prst="rect">
            <a:avLst/>
          </a:prstGeom>
          <a:solidFill>
            <a:srgbClr val="4211BA">
              <a:alpha val="18040"/>
            </a:srgbClr>
          </a:solidFill>
          <a:ln cap="flat" cmpd="sng" w="13800">
            <a:solidFill>
              <a:srgbClr val="4211B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1787512" y="3322920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11BA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4211BA"/>
                </a:solidFill>
                <a:latin typeface="Calibri"/>
                <a:ea typeface="Calibri"/>
                <a:cs typeface="Calibri"/>
                <a:sym typeface="Calibri"/>
              </a:rPr>
              <a:t>plt.hist()  ·  sns.histplot()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4738668" y="1752944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4738668" y="1752944"/>
            <a:ext cx="2941200" cy="59700"/>
          </a:xfrm>
          <a:prstGeom prst="rect">
            <a:avLst/>
          </a:prstGeom>
          <a:solidFill>
            <a:srgbClr val="33C6CD"/>
          </a:solidFill>
          <a:ln cap="flat" cmpd="sng" w="138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"/>
          <p:cNvSpPr/>
          <p:nvPr/>
        </p:nvSpPr>
        <p:spPr>
          <a:xfrm>
            <a:off x="4887716" y="1872183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📦  Boxplot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4887716" y="2249772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Detectar outliers y ver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la dispersión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4887716" y="2686980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Notas de varios cursos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4857906" y="3322920"/>
            <a:ext cx="2682900" cy="258300"/>
          </a:xfrm>
          <a:prstGeom prst="rect">
            <a:avLst/>
          </a:prstGeom>
          <a:solidFill>
            <a:srgbClr val="33C6CD">
              <a:alpha val="18040"/>
            </a:srgbClr>
          </a:solidFill>
          <a:ln cap="flat" cmpd="sng" w="1380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6"/>
          <p:cNvSpPr/>
          <p:nvPr/>
        </p:nvSpPr>
        <p:spPr>
          <a:xfrm>
            <a:off x="4887716" y="3322920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plt.boxplot()  ·  sns.boxplot()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7838871" y="1752944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6"/>
          <p:cNvSpPr/>
          <p:nvPr/>
        </p:nvSpPr>
        <p:spPr>
          <a:xfrm>
            <a:off x="7838871" y="1752944"/>
            <a:ext cx="2941200" cy="59700"/>
          </a:xfrm>
          <a:prstGeom prst="rect">
            <a:avLst/>
          </a:prstGeom>
          <a:solidFill>
            <a:srgbClr val="7C3AED"/>
          </a:solidFill>
          <a:ln cap="flat" cmpd="sng" w="138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7987919" y="1872183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📈  Línea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7987919" y="2249772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Evolución a lo largo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del tiempo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987919" y="2686980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Temperatura diaria del mes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7958110" y="3322920"/>
            <a:ext cx="2682900" cy="258300"/>
          </a:xfrm>
          <a:prstGeom prst="rect">
            <a:avLst/>
          </a:prstGeom>
          <a:solidFill>
            <a:srgbClr val="7C3AED">
              <a:alpha val="18040"/>
            </a:srgbClr>
          </a:solidFill>
          <a:ln cap="flat" cmpd="sng" w="13800">
            <a:solidFill>
              <a:srgbClr val="7C3AE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7987919" y="3322920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plt.plot()  ·  sns.lineplot()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1638464" y="3859493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1638464" y="3859493"/>
            <a:ext cx="2941200" cy="59700"/>
          </a:xfrm>
          <a:prstGeom prst="rect">
            <a:avLst/>
          </a:prstGeom>
          <a:solidFill>
            <a:srgbClr val="4211BA"/>
          </a:solidFill>
          <a:ln cap="flat" cmpd="sng" w="13800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1787512" y="3978732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🔵  Scatter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1787512" y="4356321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Relación entre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dos variables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1787512" y="4793529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Horas de estudio vs nota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1757703" y="5429469"/>
            <a:ext cx="2682900" cy="258300"/>
          </a:xfrm>
          <a:prstGeom prst="rect">
            <a:avLst/>
          </a:prstGeom>
          <a:solidFill>
            <a:srgbClr val="4211BA">
              <a:alpha val="18040"/>
            </a:srgbClr>
          </a:solidFill>
          <a:ln cap="flat" cmpd="sng" w="13800">
            <a:solidFill>
              <a:srgbClr val="4211B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1787512" y="5429469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11BA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4211BA"/>
                </a:solidFill>
                <a:latin typeface="Calibri"/>
                <a:ea typeface="Calibri"/>
                <a:cs typeface="Calibri"/>
                <a:sym typeface="Calibri"/>
              </a:rPr>
              <a:t>plt.scatter()  ·  sns.scatterplot()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4738668" y="3859493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4738668" y="3859493"/>
            <a:ext cx="2941200" cy="59700"/>
          </a:xfrm>
          <a:prstGeom prst="rect">
            <a:avLst/>
          </a:prstGeom>
          <a:solidFill>
            <a:srgbClr val="33C6CD"/>
          </a:solidFill>
          <a:ln cap="flat" cmpd="sng" w="13800">
            <a:solidFill>
              <a:srgbClr val="33C6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4887716" y="3978732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📊  Barras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4887716" y="4356321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Comparar entre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categorías distintas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4887716" y="4793529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Ventas por mes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857906" y="5429469"/>
            <a:ext cx="2682900" cy="258300"/>
          </a:xfrm>
          <a:prstGeom prst="rect">
            <a:avLst/>
          </a:prstGeom>
          <a:solidFill>
            <a:srgbClr val="33C6CD">
              <a:alpha val="18040"/>
            </a:srgbClr>
          </a:solidFill>
          <a:ln cap="flat" cmpd="sng" w="1380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4887716" y="5429469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plt.bar()  ·  sns.barplot()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7838871" y="3859493"/>
            <a:ext cx="2941200" cy="1907700"/>
          </a:xfrm>
          <a:prstGeom prst="rect">
            <a:avLst/>
          </a:prstGeom>
          <a:solidFill>
            <a:srgbClr val="FFFFFF"/>
          </a:solidFill>
          <a:ln cap="flat" cmpd="sng" w="13800">
            <a:solidFill>
              <a:srgbClr val="E8E4F8"/>
            </a:solidFill>
            <a:prstDash val="solid"/>
            <a:round/>
            <a:headEnd len="sm" w="sm" type="none"/>
            <a:tailEnd len="sm" w="sm" type="none"/>
          </a:ln>
          <a:effectLst>
            <a:outerShdw blurRad="110406" rotWithShape="0" algn="bl" dir="8100000" dist="41402">
              <a:srgbClr val="000000">
                <a:alpha val="12160"/>
              </a:srgbClr>
            </a:outerShdw>
          </a:effectLst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6"/>
          <p:cNvSpPr/>
          <p:nvPr/>
        </p:nvSpPr>
        <p:spPr>
          <a:xfrm>
            <a:off x="7838871" y="3859493"/>
            <a:ext cx="2941200" cy="59700"/>
          </a:xfrm>
          <a:prstGeom prst="rect">
            <a:avLst/>
          </a:prstGeom>
          <a:solidFill>
            <a:srgbClr val="7C3AED"/>
          </a:solidFill>
          <a:ln cap="flat" cmpd="sng" w="138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7987919" y="3978732"/>
            <a:ext cx="2633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413"/>
              <a:buFont typeface="Calibri"/>
              <a:buNone/>
            </a:pPr>
            <a:r>
              <a:rPr b="1" i="0" lang="en-US" sz="1413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🌡️  Heatmap</a:t>
            </a:r>
            <a:endParaRPr b="0" i="0" sz="141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7987919" y="4356321"/>
            <a:ext cx="26331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D4E"/>
              </a:buClr>
              <a:buSzPts val="1141"/>
              <a:buFont typeface="Calibri"/>
              <a:buNone/>
            </a:pP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Correlación entre</a:t>
            </a:r>
            <a:r>
              <a:rPr lang="en-US" sz="114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41" u="none" cap="none" strike="noStrike">
                <a:solidFill>
                  <a:srgbClr val="1A0D4E"/>
                </a:solidFill>
                <a:latin typeface="Calibri"/>
                <a:ea typeface="Calibri"/>
                <a:cs typeface="Calibri"/>
                <a:sym typeface="Calibri"/>
              </a:rPr>
              <a:t>muchas variables</a:t>
            </a:r>
            <a:endParaRPr b="0" i="0" sz="114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7987919" y="4793529"/>
            <a:ext cx="26331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5FA8"/>
              </a:buClr>
              <a:buSzPts val="1087"/>
              <a:buFont typeface="Calibri"/>
              <a:buNone/>
            </a:pPr>
            <a:r>
              <a:rPr b="0" i="1" lang="en-US" sz="1087" u="none" cap="none" strike="noStrike">
                <a:solidFill>
                  <a:srgbClr val="6B5FA8"/>
                </a:solidFill>
                <a:latin typeface="Calibri"/>
                <a:ea typeface="Calibri"/>
                <a:cs typeface="Calibri"/>
                <a:sym typeface="Calibri"/>
              </a:rPr>
              <a:t>📌 Correlación entre variables</a:t>
            </a:r>
            <a:endParaRPr b="0" i="0" sz="108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7958110" y="5429469"/>
            <a:ext cx="2682900" cy="258300"/>
          </a:xfrm>
          <a:prstGeom prst="rect">
            <a:avLst/>
          </a:prstGeom>
          <a:solidFill>
            <a:srgbClr val="7C3AED">
              <a:alpha val="18040"/>
            </a:srgbClr>
          </a:solidFill>
          <a:ln cap="flat" cmpd="sng" w="13800">
            <a:solidFill>
              <a:srgbClr val="7C3AE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350" lIns="99350" spcFirstLastPara="1" rIns="99350" wrap="square" tIns="9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7987919" y="5429469"/>
            <a:ext cx="26331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50" lIns="99350" spcFirstLastPara="1" rIns="99350" wrap="square" tIns="49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78"/>
              <a:buFont typeface="Calibri"/>
              <a:buNone/>
            </a:pPr>
            <a:r>
              <a:rPr b="1" i="0" lang="en-US" sz="978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sns.heatmap()</a:t>
            </a:r>
            <a:endParaRPr b="0" i="0" sz="97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"/>
          <p:cNvSpPr/>
          <p:nvPr/>
        </p:nvSpPr>
        <p:spPr>
          <a:xfrm>
            <a:off x="1186175" y="1335700"/>
            <a:ext cx="4434900" cy="5143500"/>
          </a:xfrm>
          <a:prstGeom prst="rect">
            <a:avLst/>
          </a:prstGeom>
          <a:solidFill>
            <a:srgbClr val="1A0D4E"/>
          </a:solidFill>
          <a:ln cap="flat" cmpd="sng" w="12700">
            <a:solidFill>
              <a:srgbClr val="1A0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7"/>
          <p:cNvSpPr/>
          <p:nvPr/>
        </p:nvSpPr>
        <p:spPr>
          <a:xfrm>
            <a:off x="1126013" y="1335700"/>
            <a:ext cx="4555200" cy="5283000"/>
          </a:xfrm>
          <a:prstGeom prst="rect">
            <a:avLst/>
          </a:prstGeom>
          <a:solidFill>
            <a:srgbClr val="1A0D4E"/>
          </a:solidFill>
          <a:ln cap="flat" cmpd="sng" w="13025">
            <a:solidFill>
              <a:srgbClr val="1A0D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1407773" y="1692596"/>
            <a:ext cx="40857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849"/>
              <a:buFont typeface="Arial Black"/>
              <a:buNone/>
            </a:pPr>
            <a:r>
              <a:rPr b="1" i="0" lang="en-US" sz="1849" u="none" cap="none" strike="noStrike">
                <a:solidFill>
                  <a:srgbClr val="33C6CD"/>
                </a:solidFill>
                <a:latin typeface="Arial Black"/>
                <a:ea typeface="Arial Black"/>
                <a:cs typeface="Arial Black"/>
                <a:sym typeface="Arial Black"/>
              </a:rPr>
              <a:t>Lo que </a:t>
            </a:r>
            <a:r>
              <a:rPr b="1" lang="en-US" sz="1849">
                <a:solidFill>
                  <a:srgbClr val="33C6CD"/>
                </a:solidFill>
                <a:latin typeface="Arial Black"/>
                <a:ea typeface="Arial Black"/>
                <a:cs typeface="Arial Black"/>
                <a:sym typeface="Arial Black"/>
              </a:rPr>
              <a:t>hemos </a:t>
            </a:r>
            <a:r>
              <a:rPr b="1" i="0" lang="en-US" sz="1849" u="none" cap="none" strike="noStrike">
                <a:solidFill>
                  <a:srgbClr val="33C6CD"/>
                </a:solidFill>
                <a:latin typeface="Arial Black"/>
                <a:ea typeface="Arial Black"/>
                <a:cs typeface="Arial Black"/>
                <a:sym typeface="Arial Black"/>
              </a:rPr>
              <a:t>aprendi</a:t>
            </a:r>
            <a:r>
              <a:rPr b="1" lang="en-US" sz="1849">
                <a:solidFill>
                  <a:srgbClr val="33C6CD"/>
                </a:solidFill>
                <a:latin typeface="Arial Black"/>
                <a:ea typeface="Arial Black"/>
                <a:cs typeface="Arial Black"/>
                <a:sym typeface="Arial Black"/>
              </a:rPr>
              <a:t>do</a:t>
            </a:r>
            <a:r>
              <a:rPr b="1" i="0" lang="en-US" sz="1849" u="none" cap="none" strike="noStrike">
                <a:solidFill>
                  <a:srgbClr val="33C6CD"/>
                </a:solidFill>
                <a:latin typeface="Arial Black"/>
                <a:ea typeface="Arial Black"/>
                <a:cs typeface="Arial Black"/>
                <a:sym typeface="Arial Black"/>
              </a:rPr>
              <a:t> hoy:</a:t>
            </a:r>
            <a:endParaRPr b="0" i="0" sz="18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7"/>
          <p:cNvSpPr/>
          <p:nvPr/>
        </p:nvSpPr>
        <p:spPr>
          <a:xfrm>
            <a:off x="1407773" y="2321860"/>
            <a:ext cx="413400" cy="413400"/>
          </a:xfrm>
          <a:prstGeom prst="rect">
            <a:avLst/>
          </a:prstGeom>
          <a:solidFill>
            <a:srgbClr val="4211BA"/>
          </a:solidFill>
          <a:ln cap="flat" cmpd="sng" w="1302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1407773" y="2321860"/>
            <a:ext cx="413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4"/>
              <a:buFont typeface="Calibri"/>
              <a:buNone/>
            </a:pPr>
            <a:r>
              <a:rPr b="1" i="0" lang="en-US" sz="14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1914941" y="2321860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3"/>
              <a:buFont typeface="Calibri"/>
              <a:buNone/>
            </a:pPr>
            <a:r>
              <a:rPr b="1" i="0" lang="en-US" sz="12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Normal</a:t>
            </a:r>
            <a:endParaRPr b="0" i="0" sz="1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1914941" y="2547269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078"/>
              <a:buFont typeface="Calibri"/>
              <a:buNone/>
            </a:pPr>
            <a:r>
              <a:rPr b="0" i="0" lang="en-US" sz="1078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La campana. Alturas, pesos, notas...</a:t>
            </a:r>
            <a:endParaRPr b="0" i="0" sz="10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1407773" y="3120181"/>
            <a:ext cx="413400" cy="413400"/>
          </a:xfrm>
          <a:prstGeom prst="rect">
            <a:avLst/>
          </a:prstGeom>
          <a:solidFill>
            <a:srgbClr val="4211BA"/>
          </a:solidFill>
          <a:ln cap="flat" cmpd="sng" w="1302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7"/>
          <p:cNvSpPr/>
          <p:nvPr/>
        </p:nvSpPr>
        <p:spPr>
          <a:xfrm>
            <a:off x="1407773" y="3120181"/>
            <a:ext cx="413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4"/>
              <a:buFont typeface="Calibri"/>
              <a:buNone/>
            </a:pPr>
            <a:r>
              <a:rPr b="1" i="0" lang="en-US" sz="14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1914941" y="3120181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3"/>
              <a:buFont typeface="Calibri"/>
              <a:buNone/>
            </a:pPr>
            <a:r>
              <a:rPr b="1" i="0" lang="en-US" sz="12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Binomial</a:t>
            </a:r>
            <a:endParaRPr b="0" i="0" sz="1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1914941" y="3345589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078"/>
              <a:buFont typeface="Calibri"/>
              <a:buNone/>
            </a:pPr>
            <a:r>
              <a:rPr b="0" i="0" lang="en-US" sz="1078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Sí / No. Monedas, ventas, tests...</a:t>
            </a:r>
            <a:endParaRPr b="0" i="0" sz="10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1407773" y="3918501"/>
            <a:ext cx="413400" cy="413400"/>
          </a:xfrm>
          <a:prstGeom prst="rect">
            <a:avLst/>
          </a:prstGeom>
          <a:solidFill>
            <a:srgbClr val="4211BA"/>
          </a:solidFill>
          <a:ln cap="flat" cmpd="sng" w="1302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/>
          <p:nvPr/>
        </p:nvSpPr>
        <p:spPr>
          <a:xfrm>
            <a:off x="1407773" y="3918501"/>
            <a:ext cx="413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4"/>
              <a:buFont typeface="Calibri"/>
              <a:buNone/>
            </a:pPr>
            <a:r>
              <a:rPr b="1" i="0" lang="en-US" sz="14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1914941" y="3918501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3"/>
              <a:buFont typeface="Calibri"/>
              <a:buNone/>
            </a:pPr>
            <a:r>
              <a:rPr b="1" i="0" lang="en-US" sz="12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Distribución Poisson</a:t>
            </a:r>
            <a:endParaRPr b="0" i="0" sz="1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1914941" y="4143909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078"/>
              <a:buFont typeface="Calibri"/>
              <a:buNone/>
            </a:pPr>
            <a:r>
              <a:rPr b="0" i="0" lang="en-US" sz="1078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Conteos por tiempo. Emails, bugs...</a:t>
            </a:r>
            <a:endParaRPr b="0" i="0" sz="10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1407773" y="4716822"/>
            <a:ext cx="413400" cy="413400"/>
          </a:xfrm>
          <a:prstGeom prst="rect">
            <a:avLst/>
          </a:prstGeom>
          <a:solidFill>
            <a:srgbClr val="4211BA"/>
          </a:solidFill>
          <a:ln cap="flat" cmpd="sng" w="1302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7"/>
          <p:cNvSpPr/>
          <p:nvPr/>
        </p:nvSpPr>
        <p:spPr>
          <a:xfrm>
            <a:off x="1407773" y="4716822"/>
            <a:ext cx="413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4"/>
              <a:buFont typeface="Calibri"/>
              <a:buNone/>
            </a:pPr>
            <a:r>
              <a:rPr b="1" i="0" lang="en-US" sz="14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1914941" y="4716822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3"/>
              <a:buFont typeface="Calibri"/>
              <a:buNone/>
            </a:pPr>
            <a:r>
              <a:rPr b="1" i="0" lang="en-US" sz="12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endParaRPr b="0" i="0" sz="1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1914941" y="4942230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078"/>
              <a:buFont typeface="Calibri"/>
              <a:buNone/>
            </a:pPr>
            <a:r>
              <a:rPr b="0" i="0" lang="en-US" sz="1078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El lápiz digital. Control total.</a:t>
            </a:r>
            <a:endParaRPr b="0" i="0" sz="10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1407773" y="5515142"/>
            <a:ext cx="413400" cy="413400"/>
          </a:xfrm>
          <a:prstGeom prst="rect">
            <a:avLst/>
          </a:prstGeom>
          <a:solidFill>
            <a:srgbClr val="4211BA"/>
          </a:solidFill>
          <a:ln cap="flat" cmpd="sng" w="13025">
            <a:solidFill>
              <a:srgbClr val="4211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900" lIns="93900" spcFirstLastPara="1" rIns="93900" wrap="square" tIns="93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/>
          <p:nvPr/>
        </p:nvSpPr>
        <p:spPr>
          <a:xfrm>
            <a:off x="1407773" y="5515142"/>
            <a:ext cx="4134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64"/>
              <a:buFont typeface="Calibri"/>
              <a:buNone/>
            </a:pPr>
            <a:r>
              <a:rPr b="1" i="0" lang="en-US" sz="14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1914941" y="5515142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3"/>
              <a:buFont typeface="Calibri"/>
              <a:buNone/>
            </a:pPr>
            <a:r>
              <a:rPr b="1" i="0" lang="en-US" sz="12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12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7"/>
          <p:cNvSpPr/>
          <p:nvPr/>
        </p:nvSpPr>
        <p:spPr>
          <a:xfrm>
            <a:off x="1914941" y="5740550"/>
            <a:ext cx="35220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25" lIns="93900" spcFirstLastPara="1" rIns="93900" wrap="square" tIns="46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7EC8"/>
              </a:buClr>
              <a:buSzPts val="1078"/>
              <a:buFont typeface="Calibri"/>
              <a:buNone/>
            </a:pPr>
            <a:r>
              <a:rPr b="0" i="0" lang="en-US" sz="1078" u="none" cap="none" strike="noStrike">
                <a:solidFill>
                  <a:srgbClr val="8B7EC8"/>
                </a:solidFill>
                <a:latin typeface="Calibri"/>
                <a:ea typeface="Calibri"/>
                <a:cs typeface="Calibri"/>
                <a:sym typeface="Calibri"/>
              </a:rPr>
              <a:t>El diseñador. Rápido y bonito.</a:t>
            </a:r>
            <a:endParaRPr b="0" i="0" sz="10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7"/>
          <p:cNvSpPr/>
          <p:nvPr/>
        </p:nvSpPr>
        <p:spPr>
          <a:xfrm>
            <a:off x="6339849" y="1391698"/>
            <a:ext cx="4713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"/>
              <a:buFont typeface="Arial Black"/>
              <a:buNone/>
            </a:pPr>
            <a:r>
              <a:rPr b="1" i="0" lang="en-US" sz="232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Ahora: al Notebook 🚀</a:t>
            </a:r>
            <a:endParaRPr b="0" i="0" sz="2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7"/>
          <p:cNvSpPr/>
          <p:nvPr/>
        </p:nvSpPr>
        <p:spPr>
          <a:xfrm>
            <a:off x="6339849" y="2093529"/>
            <a:ext cx="4713900" cy="754500"/>
          </a:xfrm>
          <a:prstGeom prst="rect">
            <a:avLst/>
          </a:prstGeom>
          <a:solidFill>
            <a:srgbClr val="1A0D4E"/>
          </a:solidFill>
          <a:ln cap="flat" cmpd="sng" w="1455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"/>
          <p:cNvSpPr/>
          <p:nvPr/>
        </p:nvSpPr>
        <p:spPr>
          <a:xfrm>
            <a:off x="6339849" y="2093529"/>
            <a:ext cx="680700" cy="754500"/>
          </a:xfrm>
          <a:prstGeom prst="rect">
            <a:avLst/>
          </a:prstGeom>
          <a:solidFill>
            <a:srgbClr val="33C6CD">
              <a:alpha val="50199"/>
            </a:srgbClr>
          </a:solidFill>
          <a:ln cap="flat" cmpd="sng" w="145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7"/>
          <p:cNvSpPr/>
          <p:nvPr/>
        </p:nvSpPr>
        <p:spPr>
          <a:xfrm>
            <a:off x="6339849" y="2093529"/>
            <a:ext cx="680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32"/>
              <a:buFont typeface="Calibri"/>
              <a:buNone/>
            </a:pPr>
            <a:r>
              <a:rPr b="1" i="0" lang="en-US" sz="163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7125479" y="2093529"/>
            <a:ext cx="38232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9"/>
              <a:buFont typeface="Calibri"/>
              <a:buNone/>
            </a:pPr>
            <a:r>
              <a:rPr b="0" i="0" lang="en-US" sz="128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Visualizar las 3 distribuciones con Matplotlib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6339849" y="3015335"/>
            <a:ext cx="4713900" cy="754500"/>
          </a:xfrm>
          <a:prstGeom prst="rect">
            <a:avLst/>
          </a:prstGeom>
          <a:solidFill>
            <a:srgbClr val="1A0D4E"/>
          </a:solidFill>
          <a:ln cap="flat" cmpd="sng" w="1455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7"/>
          <p:cNvSpPr/>
          <p:nvPr/>
        </p:nvSpPr>
        <p:spPr>
          <a:xfrm>
            <a:off x="6339849" y="3015335"/>
            <a:ext cx="680700" cy="754500"/>
          </a:xfrm>
          <a:prstGeom prst="rect">
            <a:avLst/>
          </a:prstGeom>
          <a:solidFill>
            <a:srgbClr val="33C6CD">
              <a:alpha val="50199"/>
            </a:srgbClr>
          </a:solidFill>
          <a:ln cap="flat" cmpd="sng" w="145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"/>
          <p:cNvSpPr/>
          <p:nvPr/>
        </p:nvSpPr>
        <p:spPr>
          <a:xfrm>
            <a:off x="6339849" y="3015335"/>
            <a:ext cx="680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32"/>
              <a:buFont typeface="Calibri"/>
              <a:buNone/>
            </a:pPr>
            <a:r>
              <a:rPr b="1" i="0" lang="en-US" sz="163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7"/>
          <p:cNvSpPr/>
          <p:nvPr/>
        </p:nvSpPr>
        <p:spPr>
          <a:xfrm>
            <a:off x="7125479" y="3015335"/>
            <a:ext cx="38232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9"/>
              <a:buFont typeface="Calibri"/>
              <a:buNone/>
            </a:pPr>
            <a:r>
              <a:rPr b="0" i="0" lang="en-US" sz="128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Comparar histogramas y curvas superpuestas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7"/>
          <p:cNvSpPr/>
          <p:nvPr/>
        </p:nvSpPr>
        <p:spPr>
          <a:xfrm>
            <a:off x="6339849" y="3937142"/>
            <a:ext cx="4713900" cy="754500"/>
          </a:xfrm>
          <a:prstGeom prst="rect">
            <a:avLst/>
          </a:prstGeom>
          <a:solidFill>
            <a:srgbClr val="1A0D4E"/>
          </a:solidFill>
          <a:ln cap="flat" cmpd="sng" w="1455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7"/>
          <p:cNvSpPr/>
          <p:nvPr/>
        </p:nvSpPr>
        <p:spPr>
          <a:xfrm>
            <a:off x="6339849" y="3937142"/>
            <a:ext cx="680700" cy="754500"/>
          </a:xfrm>
          <a:prstGeom prst="rect">
            <a:avLst/>
          </a:prstGeom>
          <a:solidFill>
            <a:srgbClr val="33C6CD">
              <a:alpha val="50199"/>
            </a:srgbClr>
          </a:solidFill>
          <a:ln cap="flat" cmpd="sng" w="145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"/>
          <p:cNvSpPr/>
          <p:nvPr/>
        </p:nvSpPr>
        <p:spPr>
          <a:xfrm>
            <a:off x="6339849" y="3937142"/>
            <a:ext cx="680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32"/>
              <a:buFont typeface="Calibri"/>
              <a:buNone/>
            </a:pPr>
            <a:r>
              <a:rPr b="1" i="0" lang="en-US" sz="163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7125479" y="3937142"/>
            <a:ext cx="38232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9"/>
              <a:buFont typeface="Calibri"/>
              <a:buNone/>
            </a:pPr>
            <a:r>
              <a:rPr b="0" i="0" lang="en-US" sz="128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Primer Seaborn: sns.histplot y sns.boxplot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6339849" y="4858949"/>
            <a:ext cx="4713900" cy="754500"/>
          </a:xfrm>
          <a:prstGeom prst="rect">
            <a:avLst/>
          </a:prstGeom>
          <a:solidFill>
            <a:srgbClr val="1A0D4E"/>
          </a:solidFill>
          <a:ln cap="flat" cmpd="sng" w="1455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"/>
          <p:cNvSpPr/>
          <p:nvPr/>
        </p:nvSpPr>
        <p:spPr>
          <a:xfrm>
            <a:off x="6339849" y="4858949"/>
            <a:ext cx="680700" cy="754500"/>
          </a:xfrm>
          <a:prstGeom prst="rect">
            <a:avLst/>
          </a:prstGeom>
          <a:solidFill>
            <a:srgbClr val="33C6CD">
              <a:alpha val="50199"/>
            </a:srgbClr>
          </a:solidFill>
          <a:ln cap="flat" cmpd="sng" w="145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/>
          <p:nvPr/>
        </p:nvSpPr>
        <p:spPr>
          <a:xfrm>
            <a:off x="6339849" y="4858949"/>
            <a:ext cx="680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32"/>
              <a:buFont typeface="Calibri"/>
              <a:buNone/>
            </a:pPr>
            <a:r>
              <a:rPr b="1" i="0" lang="en-US" sz="163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7125479" y="4858949"/>
            <a:ext cx="38232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9"/>
              <a:buFont typeface="Calibri"/>
              <a:buNone/>
            </a:pPr>
            <a:r>
              <a:rPr b="0" i="0" lang="en-US" sz="128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Práctica guiada: casos reales cotidianos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6339849" y="5780756"/>
            <a:ext cx="4713900" cy="754500"/>
          </a:xfrm>
          <a:prstGeom prst="rect">
            <a:avLst/>
          </a:prstGeom>
          <a:solidFill>
            <a:srgbClr val="1A0D4E"/>
          </a:solidFill>
          <a:ln cap="flat" cmpd="sng" w="14550">
            <a:solidFill>
              <a:srgbClr val="33C6C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7"/>
          <p:cNvSpPr/>
          <p:nvPr/>
        </p:nvSpPr>
        <p:spPr>
          <a:xfrm>
            <a:off x="6339849" y="5780756"/>
            <a:ext cx="680700" cy="754500"/>
          </a:xfrm>
          <a:prstGeom prst="rect">
            <a:avLst/>
          </a:prstGeom>
          <a:solidFill>
            <a:srgbClr val="33C6CD">
              <a:alpha val="50199"/>
            </a:srgbClr>
          </a:solidFill>
          <a:ln cap="flat" cmpd="sng" w="14550">
            <a:solidFill>
              <a:srgbClr val="33C6CD">
                <a:alpha val="5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725" lIns="104725" spcFirstLastPara="1" rIns="104725" wrap="square" tIns="104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7"/>
          <p:cNvSpPr/>
          <p:nvPr/>
        </p:nvSpPr>
        <p:spPr>
          <a:xfrm>
            <a:off x="6339849" y="5780756"/>
            <a:ext cx="6807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C6CD"/>
              </a:buClr>
              <a:buSzPts val="1632"/>
              <a:buFont typeface="Calibri"/>
              <a:buNone/>
            </a:pPr>
            <a:r>
              <a:rPr b="1" i="0" lang="en-US" sz="1632" u="none" cap="none" strike="noStrike">
                <a:solidFill>
                  <a:srgbClr val="33C6CD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7"/>
          <p:cNvSpPr/>
          <p:nvPr/>
        </p:nvSpPr>
        <p:spPr>
          <a:xfrm>
            <a:off x="7125479" y="5780756"/>
            <a:ext cx="38232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350" lIns="104725" spcFirstLastPara="1" rIns="104725" wrap="square" tIns="523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89"/>
              <a:buFont typeface="Calibri"/>
              <a:buNone/>
            </a:pPr>
            <a:r>
              <a:rPr b="0" i="0" lang="en-US" sz="128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Reto final: ¿Qué distribución tienen estos datos?</a:t>
            </a:r>
            <a:endParaRPr b="0" i="0" sz="128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F10001029">
  <a:themeElements>
    <a:clrScheme name="SOMOS F5 AZUL">
      <a:dk1>
        <a:srgbClr val="3F3F3F"/>
      </a:dk1>
      <a:lt1>
        <a:srgbClr val="FFFFFF"/>
      </a:lt1>
      <a:dk2>
        <a:srgbClr val="4311B9"/>
      </a:dk2>
      <a:lt2>
        <a:srgbClr val="45ABFF"/>
      </a:lt2>
      <a:accent1>
        <a:srgbClr val="355BE3"/>
      </a:accent1>
      <a:accent2>
        <a:srgbClr val="3942D5"/>
      </a:accent2>
      <a:accent3>
        <a:srgbClr val="4311B9"/>
      </a:accent3>
      <a:accent4>
        <a:srgbClr val="3073F1"/>
      </a:accent4>
      <a:accent5>
        <a:srgbClr val="2B8CFF"/>
      </a:accent5>
      <a:accent6>
        <a:srgbClr val="45ABFF"/>
      </a:accent6>
      <a:hlink>
        <a:srgbClr val="FFFFFF"/>
      </a:hlink>
      <a:folHlink>
        <a:srgbClr val="3073F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